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75" r:id="rId6"/>
    <p:sldId id="261" r:id="rId7"/>
    <p:sldId id="272" r:id="rId8"/>
    <p:sldId id="273" r:id="rId9"/>
    <p:sldId id="274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7" r:id="rId29"/>
    <p:sldId id="296" r:id="rId30"/>
    <p:sldId id="294" r:id="rId31"/>
    <p:sldId id="298" r:id="rId32"/>
    <p:sldId id="295" r:id="rId33"/>
    <p:sldId id="299" r:id="rId34"/>
    <p:sldId id="300" r:id="rId35"/>
    <p:sldId id="301" r:id="rId36"/>
    <p:sldId id="302" r:id="rId37"/>
    <p:sldId id="304" r:id="rId38"/>
    <p:sldId id="306" r:id="rId39"/>
    <p:sldId id="311" r:id="rId40"/>
    <p:sldId id="310" r:id="rId41"/>
    <p:sldId id="307" r:id="rId42"/>
    <p:sldId id="312" r:id="rId43"/>
    <p:sldId id="313" r:id="rId44"/>
    <p:sldId id="303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48" name="MSIPCM42ef48fe8a3c808e2d576f61" descr="{&quot;HashCode&quot;:2133105206,&quot;Placement&quot;:&quot;Footer&quot;,&quot;Top&quot;:524.1047,&quot;Left&quot;:420.843231,&quot;SlideWidth&quot;:960,&quot;SlideHeight&quot;:540}"/>
          <p:cNvSpPr txBox="1"/>
          <p:nvPr userDrawn="1"/>
        </p:nvSpPr>
        <p:spPr>
          <a:xfrm>
            <a:off x="5344709" y="6656129"/>
            <a:ext cx="1502583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Sensitivity: Internal &amp; Restricted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817D-0618-4EF3-91B3-7B4E21537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857" y="1008643"/>
            <a:ext cx="7210494" cy="1340917"/>
          </a:xfrm>
        </p:spPr>
        <p:txBody>
          <a:bodyPr>
            <a:normAutofit/>
          </a:bodyPr>
          <a:lstStyle/>
          <a:p>
            <a:r>
              <a:rPr lang="en-US" sz="4000" dirty="0"/>
              <a:t>Design Patterns</a:t>
            </a:r>
            <a:endParaRPr lang="en-US" sz="40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2C2CF7-9EE2-4908-8D39-F90ADB176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0858" y="2409736"/>
            <a:ext cx="3180032" cy="1246409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Tamil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00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3ECCD-735D-49D5-9F9E-77624AEC1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418" y="1376042"/>
            <a:ext cx="8112832" cy="3133814"/>
          </a:xfrm>
        </p:spPr>
        <p:txBody>
          <a:bodyPr>
            <a:normAutofit/>
          </a:bodyPr>
          <a:lstStyle/>
          <a:p>
            <a:r>
              <a:rPr lang="en-US" sz="3200" dirty="0"/>
              <a:t>What is Design pattern &amp; Advantages </a:t>
            </a:r>
          </a:p>
          <a:p>
            <a:r>
              <a:rPr lang="en-US" sz="3200" dirty="0"/>
              <a:t>Types of design pattern 	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Creational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Structural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Behavioral </a:t>
            </a:r>
          </a:p>
        </p:txBody>
      </p:sp>
    </p:spTree>
    <p:extLst>
      <p:ext uri="{BB962C8B-B14F-4D97-AF65-F5344CB8AC3E}">
        <p14:creationId xmlns:p14="http://schemas.microsoft.com/office/powerpoint/2010/main" val="170515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F31ED-46FE-48A1-A9FC-0B5C65E6E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14" y="1127465"/>
            <a:ext cx="10588563" cy="519343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3600" dirty="0"/>
              <a:t>What is Design pattern &amp; Advantages </a:t>
            </a:r>
            <a:endParaRPr lang="en-US" sz="3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	Known Solution for common problem/requirement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	Not specific to Technology and Language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	Not required to use all patterns in project.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	Easy to adapt and understand </a:t>
            </a:r>
          </a:p>
        </p:txBody>
      </p:sp>
    </p:spTree>
    <p:extLst>
      <p:ext uri="{BB962C8B-B14F-4D97-AF65-F5344CB8AC3E}">
        <p14:creationId xmlns:p14="http://schemas.microsoft.com/office/powerpoint/2010/main" val="94675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D3073-81CD-4015-99C6-C1C033E2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82" y="904298"/>
            <a:ext cx="10334626" cy="5301843"/>
          </a:xfrm>
        </p:spPr>
        <p:txBody>
          <a:bodyPr anchor="t">
            <a:noAutofit/>
          </a:bodyPr>
          <a:lstStyle/>
          <a:p>
            <a:r>
              <a:rPr lang="en-US" sz="3200" dirty="0"/>
              <a:t>			Types of design pattern </a:t>
            </a:r>
            <a:br>
              <a:rPr lang="en-US" sz="3200" dirty="0"/>
            </a:br>
            <a:r>
              <a:rPr lang="en-US" sz="3200" dirty="0"/>
              <a:t>	</a:t>
            </a:r>
            <a:br>
              <a:rPr lang="en-US" sz="3200" dirty="0"/>
            </a:b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Creational</a:t>
            </a:r>
            <a:br>
              <a:rPr lang="en-US" sz="3200" b="1" u="sng" dirty="0"/>
            </a:br>
            <a:r>
              <a:rPr lang="en-US" sz="3200" b="1" dirty="0"/>
              <a:t>	</a:t>
            </a:r>
            <a:r>
              <a:rPr lang="en-US" sz="2400" cap="none" dirty="0"/>
              <a:t>Creational Patterns are used to resolve Object Creation Requirement</a:t>
            </a:r>
            <a:br>
              <a:rPr lang="en-US" sz="2400" dirty="0"/>
            </a:br>
            <a:br>
              <a:rPr lang="en-US" sz="3200" dirty="0"/>
            </a:b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Structural</a:t>
            </a:r>
            <a:br>
              <a:rPr lang="en-US" sz="3200" b="1" u="sng" dirty="0"/>
            </a:br>
            <a:r>
              <a:rPr lang="en-US" sz="3200" b="1" dirty="0"/>
              <a:t>	</a:t>
            </a:r>
            <a:r>
              <a:rPr lang="en-US" sz="2400" cap="none" dirty="0"/>
              <a:t>These patterns are used to define a class's structure. The aim of these patterns is to increase/modify the class functionality, without changing more code.</a:t>
            </a:r>
            <a:br>
              <a:rPr lang="en-US" sz="3200" dirty="0"/>
            </a:br>
            <a:br>
              <a:rPr lang="en-US" sz="3200" dirty="0"/>
            </a:b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br>
              <a:rPr lang="en-US" sz="3200" b="1" u="sng" dirty="0"/>
            </a:br>
            <a:r>
              <a:rPr lang="en-US" sz="3200" b="1" dirty="0"/>
              <a:t>	</a:t>
            </a:r>
            <a:r>
              <a:rPr lang="en-US" sz="2400" cap="none" dirty="0"/>
              <a:t>Behavioral patterns are used to achieve runtime requirement (like define how one class communicates with others)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8748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D3073-81CD-4015-99C6-C1C033E2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726" y="868790"/>
            <a:ext cx="10334626" cy="4928330"/>
          </a:xfrm>
        </p:spPr>
        <p:txBody>
          <a:bodyPr anchor="t">
            <a:noAutofit/>
          </a:bodyPr>
          <a:lstStyle/>
          <a:p>
            <a:r>
              <a:rPr lang="en-US" sz="2800" dirty="0"/>
              <a:t>			Types of design pattern </a:t>
            </a:r>
            <a:br>
              <a:rPr lang="en-US" sz="2800" dirty="0"/>
            </a:br>
            <a:r>
              <a:rPr lang="en-US" sz="2800" dirty="0"/>
              <a:t>	</a:t>
            </a:r>
            <a:br>
              <a:rPr lang="en-US" sz="2800" dirty="0"/>
            </a:br>
            <a:r>
              <a:rPr lang="en-US" sz="2000" b="1" u="sng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Creational</a:t>
            </a:r>
            <a:br>
              <a:rPr lang="en-US" sz="2800" b="1" u="sng" dirty="0"/>
            </a:br>
            <a:r>
              <a:rPr lang="en-US" sz="2800" b="1" dirty="0"/>
              <a:t>	</a:t>
            </a:r>
            <a:r>
              <a:rPr lang="en-US" sz="2000" cap="none" dirty="0"/>
              <a:t>Creational Patterns are used to resolve Object Creation Requirement</a:t>
            </a:r>
            <a:br>
              <a:rPr lang="en-US" sz="2000" dirty="0"/>
            </a:br>
            <a:br>
              <a:rPr lang="en-US" sz="2800" dirty="0"/>
            </a:br>
            <a:r>
              <a:rPr lang="en-US" sz="20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Structural</a:t>
            </a:r>
            <a:br>
              <a:rPr lang="en-US" sz="2800" b="1" u="sng" dirty="0"/>
            </a:br>
            <a:r>
              <a:rPr lang="en-US" sz="2800" b="1" dirty="0"/>
              <a:t>	</a:t>
            </a:r>
            <a:r>
              <a:rPr lang="en-US" sz="2000" cap="none" dirty="0"/>
              <a:t>These patterns are used to define a class's structure. The aim of these patterns is to increase/modify the class functionality, without changing more code.</a:t>
            </a:r>
            <a:br>
              <a:rPr lang="en-US" sz="2800" dirty="0"/>
            </a:br>
            <a:br>
              <a:rPr lang="en-US" sz="2800" dirty="0"/>
            </a:br>
            <a:r>
              <a:rPr lang="en-US" sz="2000" b="1" u="sng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br>
              <a:rPr lang="en-US" sz="2800" b="1" u="sng" dirty="0"/>
            </a:br>
            <a:r>
              <a:rPr lang="en-US" sz="2800" b="1" dirty="0"/>
              <a:t>	</a:t>
            </a:r>
            <a:r>
              <a:rPr lang="en-US" sz="2000" cap="none" dirty="0"/>
              <a:t>Behavioral patterns are used to achieve runtime requirement (like define how one class communicates with others)</a:t>
            </a:r>
            <a:br>
              <a:rPr lang="en-US" sz="2000" cap="none" dirty="0"/>
            </a:br>
            <a:r>
              <a:rPr lang="en-US" sz="2000" cap="none" dirty="0"/>
              <a:t>		</a:t>
            </a:r>
            <a:br>
              <a:rPr lang="en-US" sz="28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Consolas" panose="020B0609020204030204" pitchFamily="49" charset="0"/>
              </a:rPr>
              <a:t>MyClass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obj = </a:t>
            </a:r>
            <a:r>
              <a:rPr lang="en-US" sz="2000" cap="none" dirty="0">
                <a:solidFill>
                  <a:srgbClr val="FFC000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Consolas" panose="020B0609020204030204" pitchFamily="49" charset="0"/>
              </a:rPr>
              <a:t>MyClass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obj.</a:t>
            </a:r>
            <a:r>
              <a:rPr lang="en-US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Method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23541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011" y="1216242"/>
            <a:ext cx="5454696" cy="45453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/>
              <a:t>Creational Pattern</a:t>
            </a:r>
            <a:endParaRPr lang="en-US" sz="2800" u="sng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Factory Method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Abstract Factory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Builder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Singleton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Prototype</a:t>
            </a:r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315786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19" y="1047566"/>
            <a:ext cx="5395789" cy="53887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/>
              <a:t>Structural Pattern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Adapter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Bridge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Composite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Decorator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Facade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Flyweight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Private Class Data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Proxy.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235981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897" y="674703"/>
            <a:ext cx="10511900" cy="59746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u="sng" dirty="0"/>
              <a:t>Behavioral Pattern 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Chain of responsibility			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Command, Interpreter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Iterator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Mediator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Memento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Null Object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Observer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State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Strategy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Template method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Visitor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6626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844" y="1522541"/>
            <a:ext cx="10536573" cy="320785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Singleton Pattern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design pattern used to create only one object for particular class.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Singleton class shouldn't have multiple instances in any time.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Generally this pattern is used for logging,  caching and pooling.</a:t>
            </a:r>
          </a:p>
        </p:txBody>
      </p:sp>
    </p:spTree>
    <p:extLst>
      <p:ext uri="{BB962C8B-B14F-4D97-AF65-F5344CB8AC3E}">
        <p14:creationId xmlns:p14="http://schemas.microsoft.com/office/powerpoint/2010/main" val="4247066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844" y="1317691"/>
            <a:ext cx="10536573" cy="45784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Singleton Pattern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design pattern used to create only one object for particular class.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Singleton class shouldn't have multiple instances in any time.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Generally this pattern is used for logging,  caching and pooling.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SingleTon_Class</a:t>
            </a:r>
            <a:endParaRPr lang="en-US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	{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99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032" y="867001"/>
            <a:ext cx="10536573" cy="56225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Singleton Pattern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design pattern used to create only one object for particular class.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Singleton class shouldn't have multiple instances in any time.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Generally this pattern is used for logging,  caching and pooling.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SingleTon_Class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	</a:t>
            </a:r>
            <a:r>
              <a:rPr lang="en-US" sz="1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SingleTon_Class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	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//Private Constructor used to avoid instance creation 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383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844" y="618424"/>
            <a:ext cx="10536573" cy="6048706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Singleton Pattern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design pattern used to create only one object for particular class.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Singleton class shouldn't have multiple instances in any time.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Generally this pattern is used for logging,  caching and pooling.</a:t>
            </a: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SingleTon_Class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SingleTon_Class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singleTonObject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SingleTon_Class();</a:t>
            </a:r>
          </a:p>
          <a:p>
            <a:pPr marL="1371600" lvl="3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SingleTon_Class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//Private Constructor used to avoid instance creation </a:t>
            </a:r>
          </a:p>
          <a:p>
            <a:pPr marL="914400" lvl="3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}</a:t>
            </a: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SingleTon_Class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GetInstance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singleTonObject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 //Public Methods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914400" lvl="2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205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817D-0618-4EF3-91B3-7B4E21537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6199" y="2894118"/>
            <a:ext cx="1892770" cy="763479"/>
          </a:xfrm>
        </p:spPr>
        <p:txBody>
          <a:bodyPr>
            <a:normAutofit/>
          </a:bodyPr>
          <a:lstStyle/>
          <a:p>
            <a:r>
              <a:rPr lang="en-US" sz="4000" dirty="0"/>
              <a:t>DEMO</a:t>
            </a:r>
            <a:endParaRPr lang="en-US" sz="4000" b="1" u="sng" dirty="0"/>
          </a:p>
        </p:txBody>
      </p:sp>
    </p:spTree>
    <p:extLst>
      <p:ext uri="{BB962C8B-B14F-4D97-AF65-F5344CB8AC3E}">
        <p14:creationId xmlns:p14="http://schemas.microsoft.com/office/powerpoint/2010/main" val="3472811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159" y="1862252"/>
            <a:ext cx="8084735" cy="2364059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Factory Pattern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Abstract Factory Pattern</a:t>
            </a:r>
          </a:p>
        </p:txBody>
      </p:sp>
    </p:spTree>
    <p:extLst>
      <p:ext uri="{BB962C8B-B14F-4D97-AF65-F5344CB8AC3E}">
        <p14:creationId xmlns:p14="http://schemas.microsoft.com/office/powerpoint/2010/main" val="3940650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779" y="1579418"/>
            <a:ext cx="10723418" cy="311133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Factory Pattern &amp; Abstract Factory Pattern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Both design patterns are part of creational Pattern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Both Patterns are separates object creation logic  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Both Patterns are used to centralize the objects creation logic in application.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882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925" y="570017"/>
            <a:ext cx="10114260" cy="598516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Factory Pattern &amp; Abstract Factory Pattern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Both design patterns are part of creational design pattern 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Both Patterns are separates the object creation logic (Hide the object creation conditions)  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Both Patterns are used to centralize the objects creation logic in application.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F72F9F-DE3B-43FF-9076-F4401AAC5743}"/>
              </a:ext>
            </a:extLst>
          </p:cNvPr>
          <p:cNvGrpSpPr/>
          <p:nvPr/>
        </p:nvGrpSpPr>
        <p:grpSpPr>
          <a:xfrm>
            <a:off x="1579417" y="4104223"/>
            <a:ext cx="9009603" cy="2284700"/>
            <a:chOff x="1472541" y="3546085"/>
            <a:chExt cx="9009603" cy="22847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A27087-A6CC-4C52-B9E6-AD0BCC4230E7}"/>
                </a:ext>
              </a:extLst>
            </p:cNvPr>
            <p:cNvSpPr/>
            <p:nvPr/>
          </p:nvSpPr>
          <p:spPr>
            <a:xfrm>
              <a:off x="1472541" y="3546085"/>
              <a:ext cx="4404154" cy="22847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  <a:p>
              <a:pPr algn="ctr"/>
              <a:r>
                <a:rPr lang="en-US" dirty="0"/>
                <a:t>Interface obj = </a:t>
              </a:r>
              <a:r>
                <a:rPr lang="en-US" dirty="0" err="1"/>
                <a:t>FactoryClass.GetObject</a:t>
              </a:r>
              <a:r>
                <a:rPr lang="en-US" dirty="0"/>
                <a:t>(Type)</a:t>
              </a:r>
            </a:p>
            <a:p>
              <a:pPr algn="ctr"/>
              <a:r>
                <a:rPr lang="en-US" dirty="0"/>
                <a:t>…</a:t>
              </a:r>
            </a:p>
            <a:p>
              <a:pPr algn="ctr"/>
              <a:r>
                <a:rPr lang="en-US" dirty="0"/>
                <a:t>…</a:t>
              </a:r>
            </a:p>
            <a:p>
              <a:pPr algn="ctr"/>
              <a:r>
                <a:rPr lang="en-US" dirty="0"/>
                <a:t>Interface obj = </a:t>
              </a:r>
              <a:r>
                <a:rPr lang="en-US" dirty="0" err="1"/>
                <a:t>FactoryClass.GetObject</a:t>
              </a:r>
              <a:r>
                <a:rPr lang="en-US" dirty="0"/>
                <a:t>(Type)</a:t>
              </a:r>
            </a:p>
            <a:p>
              <a:pPr algn="ctr"/>
              <a:r>
                <a:rPr lang="en-US" dirty="0"/>
                <a:t>…</a:t>
              </a:r>
            </a:p>
            <a:p>
              <a:pPr algn="ctr"/>
              <a:r>
                <a:rPr lang="en-US" dirty="0"/>
                <a:t>…</a:t>
              </a:r>
            </a:p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7F63A38-C003-4AF6-ACD7-C4ECE5371DCA}"/>
                </a:ext>
              </a:extLst>
            </p:cNvPr>
            <p:cNvSpPr/>
            <p:nvPr/>
          </p:nvSpPr>
          <p:spPr>
            <a:xfrm>
              <a:off x="8471202" y="4088772"/>
              <a:ext cx="2010942" cy="9515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 Factory Class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B6F0642-472A-4D5A-8022-F3FE84A8BD75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flipH="1" flipV="1">
              <a:off x="5876696" y="4092499"/>
              <a:ext cx="2594506" cy="472062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76C2C98-60A4-4245-B0C0-54CCA4C07A59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flipH="1">
              <a:off x="5876695" y="4564561"/>
              <a:ext cx="2594507" cy="475788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466FF5-5A25-42DE-9BD8-3B6BF0D75DE9}"/>
                </a:ext>
              </a:extLst>
            </p:cNvPr>
            <p:cNvSpPr txBox="1"/>
            <p:nvPr/>
          </p:nvSpPr>
          <p:spPr>
            <a:xfrm rot="806888">
              <a:off x="6635917" y="3953470"/>
              <a:ext cx="12765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Object X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2D6B13-9676-4F79-B267-4D7B7E9ED634}"/>
                </a:ext>
              </a:extLst>
            </p:cNvPr>
            <p:cNvSpPr txBox="1"/>
            <p:nvPr/>
          </p:nvSpPr>
          <p:spPr>
            <a:xfrm rot="20953144">
              <a:off x="6635917" y="4836092"/>
              <a:ext cx="12765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Object 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5464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27" y="1634888"/>
            <a:ext cx="10402783" cy="270757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Factory Pattern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Creates a Object from several derived classes without specifying concreate class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013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27" y="403761"/>
            <a:ext cx="10984674" cy="625829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Factory Pattern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Creates an instance of several derived classes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F2BD7-24E6-4772-AA04-AE9E17C40C2E}"/>
              </a:ext>
            </a:extLst>
          </p:cNvPr>
          <p:cNvSpPr/>
          <p:nvPr/>
        </p:nvSpPr>
        <p:spPr>
          <a:xfrm>
            <a:off x="356262" y="2987945"/>
            <a:ext cx="3598224" cy="1572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…</a:t>
            </a:r>
          </a:p>
          <a:p>
            <a:r>
              <a:rPr lang="en-US" sz="1600" dirty="0"/>
              <a:t>…</a:t>
            </a:r>
          </a:p>
          <a:p>
            <a:r>
              <a:rPr lang="en-US" sz="1600" dirty="0" err="1"/>
              <a:t>iLogger</a:t>
            </a:r>
            <a:r>
              <a:rPr lang="en-US" sz="1600" dirty="0"/>
              <a:t> logger = </a:t>
            </a:r>
            <a:r>
              <a:rPr lang="en-US" sz="1600" dirty="0" err="1"/>
              <a:t>Logfactory.GetObject</a:t>
            </a:r>
            <a:r>
              <a:rPr lang="en-US" sz="1600" dirty="0"/>
              <a:t>();</a:t>
            </a:r>
          </a:p>
          <a:p>
            <a:r>
              <a:rPr lang="en-US" sz="1600" dirty="0" err="1"/>
              <a:t>Logger.WriteMessage</a:t>
            </a:r>
            <a:r>
              <a:rPr lang="en-US" sz="1600" dirty="0"/>
              <a:t>(Message)</a:t>
            </a:r>
          </a:p>
          <a:p>
            <a:r>
              <a:rPr lang="en-US" sz="1600" dirty="0"/>
              <a:t>…</a:t>
            </a:r>
          </a:p>
          <a:p>
            <a:r>
              <a:rPr lang="en-US" sz="1600" dirty="0"/>
              <a:t>…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ABFFF-AABB-48F7-A74D-BC81EC4E25B8}"/>
              </a:ext>
            </a:extLst>
          </p:cNvPr>
          <p:cNvSpPr/>
          <p:nvPr/>
        </p:nvSpPr>
        <p:spPr>
          <a:xfrm>
            <a:off x="8417627" y="3086229"/>
            <a:ext cx="3113314" cy="1058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/>
              <a:t>EventViewerLogger</a:t>
            </a:r>
            <a:r>
              <a:rPr lang="en-US" sz="1600" dirty="0"/>
              <a:t> : </a:t>
            </a:r>
            <a:r>
              <a:rPr lang="en-US" sz="1600" dirty="0" err="1"/>
              <a:t>iLogger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WriteMessage</a:t>
            </a:r>
            <a:r>
              <a:rPr lang="en-US" sz="1600" dirty="0"/>
              <a:t>(String Information{}</a:t>
            </a:r>
          </a:p>
          <a:p>
            <a:r>
              <a:rPr lang="en-US" sz="1600" dirty="0"/>
              <a:t>}</a:t>
            </a:r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93528-6F89-4D16-BC36-7635B9E2DA5B}"/>
              </a:ext>
            </a:extLst>
          </p:cNvPr>
          <p:cNvSpPr/>
          <p:nvPr/>
        </p:nvSpPr>
        <p:spPr>
          <a:xfrm>
            <a:off x="8427522" y="1888463"/>
            <a:ext cx="3103419" cy="10582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Interface </a:t>
            </a:r>
            <a:r>
              <a:rPr lang="en-US" sz="1600" dirty="0" err="1"/>
              <a:t>iLogger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WriteMessage</a:t>
            </a:r>
            <a:r>
              <a:rPr lang="en-US" sz="1600" dirty="0"/>
              <a:t>(String information)</a:t>
            </a:r>
          </a:p>
          <a:p>
            <a:r>
              <a:rPr lang="en-US" sz="1600" dirty="0"/>
              <a:t>}</a:t>
            </a:r>
          </a:p>
          <a:p>
            <a:pPr algn="ctr"/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2AB639-09D0-4471-B106-3A2592A1520C}"/>
              </a:ext>
            </a:extLst>
          </p:cNvPr>
          <p:cNvSpPr/>
          <p:nvPr/>
        </p:nvSpPr>
        <p:spPr>
          <a:xfrm>
            <a:off x="8445335" y="5587766"/>
            <a:ext cx="3113314" cy="1058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/>
              <a:t>FileLogger</a:t>
            </a:r>
            <a:r>
              <a:rPr lang="en-US" sz="1600" dirty="0"/>
              <a:t> : </a:t>
            </a:r>
            <a:r>
              <a:rPr lang="en-US" sz="1600" dirty="0" err="1"/>
              <a:t>iLogger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WriteMessage</a:t>
            </a:r>
            <a:r>
              <a:rPr lang="en-US" sz="1600" dirty="0"/>
              <a:t>(String Information{}</a:t>
            </a:r>
          </a:p>
          <a:p>
            <a:r>
              <a:rPr lang="en-US" sz="1600" dirty="0"/>
              <a:t>}</a:t>
            </a:r>
          </a:p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404B6-A2DF-4F8F-9EDA-4001A85C72ED}"/>
              </a:ext>
            </a:extLst>
          </p:cNvPr>
          <p:cNvSpPr/>
          <p:nvPr/>
        </p:nvSpPr>
        <p:spPr>
          <a:xfrm>
            <a:off x="8421586" y="4326186"/>
            <a:ext cx="3113314" cy="1058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/>
              <a:t>DBLogger</a:t>
            </a:r>
            <a:r>
              <a:rPr lang="en-US" sz="1600" dirty="0"/>
              <a:t> : </a:t>
            </a:r>
            <a:r>
              <a:rPr lang="en-US" sz="1600" dirty="0" err="1"/>
              <a:t>iLogger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WriteMessage</a:t>
            </a:r>
            <a:r>
              <a:rPr lang="en-US" sz="1600" dirty="0"/>
              <a:t>(String Information{}</a:t>
            </a:r>
          </a:p>
          <a:p>
            <a:r>
              <a:rPr lang="en-US" sz="1600" dirty="0"/>
              <a:t>}</a:t>
            </a:r>
          </a:p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A175B3-FF98-4DAF-95A7-B4463F62C527}"/>
              </a:ext>
            </a:extLst>
          </p:cNvPr>
          <p:cNvSpPr/>
          <p:nvPr/>
        </p:nvSpPr>
        <p:spPr>
          <a:xfrm>
            <a:off x="4346369" y="2030681"/>
            <a:ext cx="3722914" cy="4631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LogFactory</a:t>
            </a:r>
            <a:endParaRPr lang="en-US" sz="1600" dirty="0"/>
          </a:p>
          <a:p>
            <a:r>
              <a:rPr lang="en-US" sz="1600" dirty="0"/>
              <a:t>{ </a:t>
            </a:r>
          </a:p>
          <a:p>
            <a:r>
              <a:rPr lang="en-US" sz="1600" dirty="0" err="1"/>
              <a:t>iLogger</a:t>
            </a:r>
            <a:r>
              <a:rPr lang="en-US" sz="1600" dirty="0"/>
              <a:t> logger ;</a:t>
            </a:r>
          </a:p>
          <a:p>
            <a:r>
              <a:rPr lang="en-US" sz="1600" dirty="0"/>
              <a:t>Switch(</a:t>
            </a:r>
            <a:r>
              <a:rPr lang="en-US" sz="1600" dirty="0" err="1"/>
              <a:t>LoggerType</a:t>
            </a:r>
            <a:r>
              <a:rPr lang="en-US" sz="1600" dirty="0"/>
              <a:t>)</a:t>
            </a:r>
          </a:p>
          <a:p>
            <a:r>
              <a:rPr lang="en-US" sz="1600" dirty="0"/>
              <a:t>    { </a:t>
            </a:r>
          </a:p>
          <a:p>
            <a:r>
              <a:rPr lang="en-US" sz="1600" dirty="0"/>
              <a:t>        case EV: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EventViewerLogger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case DB: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DBLogger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case FILE: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FileLogger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default: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EventViewerLogger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8895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27" y="403761"/>
            <a:ext cx="10984674" cy="625829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Factory Pattern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Creates an instance of several derived classes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F2BD7-24E6-4772-AA04-AE9E17C40C2E}"/>
              </a:ext>
            </a:extLst>
          </p:cNvPr>
          <p:cNvSpPr/>
          <p:nvPr/>
        </p:nvSpPr>
        <p:spPr>
          <a:xfrm>
            <a:off x="356262" y="2173908"/>
            <a:ext cx="3598224" cy="1572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…</a:t>
            </a:r>
          </a:p>
          <a:p>
            <a:r>
              <a:rPr lang="en-US" sz="1600" dirty="0"/>
              <a:t>…</a:t>
            </a:r>
          </a:p>
          <a:p>
            <a:r>
              <a:rPr lang="en-US" sz="1600" dirty="0" err="1"/>
              <a:t>iLogger</a:t>
            </a:r>
            <a:r>
              <a:rPr lang="en-US" sz="1600" dirty="0"/>
              <a:t> logger = </a:t>
            </a:r>
            <a:r>
              <a:rPr lang="en-US" sz="1600" dirty="0" err="1"/>
              <a:t>Logfactory.GetObject</a:t>
            </a:r>
            <a:r>
              <a:rPr lang="en-US" sz="1600" dirty="0"/>
              <a:t>();</a:t>
            </a:r>
          </a:p>
          <a:p>
            <a:r>
              <a:rPr lang="en-US" sz="1600" dirty="0" err="1"/>
              <a:t>Logger.WriteMessage</a:t>
            </a:r>
            <a:r>
              <a:rPr lang="en-US" sz="1600" dirty="0"/>
              <a:t>(Message)</a:t>
            </a:r>
          </a:p>
          <a:p>
            <a:r>
              <a:rPr lang="en-US" sz="1600" dirty="0"/>
              <a:t>…</a:t>
            </a:r>
          </a:p>
          <a:p>
            <a:r>
              <a:rPr lang="en-US" sz="1600" dirty="0"/>
              <a:t>…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ABFFF-AABB-48F7-A74D-BC81EC4E25B8}"/>
              </a:ext>
            </a:extLst>
          </p:cNvPr>
          <p:cNvSpPr/>
          <p:nvPr/>
        </p:nvSpPr>
        <p:spPr>
          <a:xfrm>
            <a:off x="8417627" y="3086229"/>
            <a:ext cx="3113314" cy="1058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/>
              <a:t>EventViewerLogger</a:t>
            </a:r>
            <a:r>
              <a:rPr lang="en-US" sz="1600" dirty="0"/>
              <a:t> : </a:t>
            </a:r>
            <a:r>
              <a:rPr lang="en-US" sz="1600" dirty="0" err="1"/>
              <a:t>iLogger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WriteMessage</a:t>
            </a:r>
            <a:r>
              <a:rPr lang="en-US" sz="1600" dirty="0"/>
              <a:t>(String Information{}</a:t>
            </a:r>
          </a:p>
          <a:p>
            <a:r>
              <a:rPr lang="en-US" sz="1600" dirty="0"/>
              <a:t>}</a:t>
            </a:r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93528-6F89-4D16-BC36-7635B9E2DA5B}"/>
              </a:ext>
            </a:extLst>
          </p:cNvPr>
          <p:cNvSpPr/>
          <p:nvPr/>
        </p:nvSpPr>
        <p:spPr>
          <a:xfrm>
            <a:off x="8427522" y="1888463"/>
            <a:ext cx="3103419" cy="105826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Interface </a:t>
            </a:r>
            <a:r>
              <a:rPr lang="en-US" sz="1600" dirty="0" err="1">
                <a:solidFill>
                  <a:schemeClr val="tx1"/>
                </a:solidFill>
              </a:rPr>
              <a:t>iLogger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WriteMessage</a:t>
            </a:r>
            <a:r>
              <a:rPr lang="en-US" sz="1600" dirty="0">
                <a:solidFill>
                  <a:schemeClr val="tx1"/>
                </a:solidFill>
              </a:rPr>
              <a:t>(String information)</a:t>
            </a:r>
          </a:p>
          <a:p>
            <a:r>
              <a:rPr lang="en-US" sz="1600" dirty="0">
                <a:solidFill>
                  <a:schemeClr val="tx1"/>
                </a:solidFill>
              </a:rPr>
              <a:t>}</a:t>
            </a:r>
          </a:p>
          <a:p>
            <a:pPr algn="ctr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2AB639-09D0-4471-B106-3A2592A1520C}"/>
              </a:ext>
            </a:extLst>
          </p:cNvPr>
          <p:cNvSpPr/>
          <p:nvPr/>
        </p:nvSpPr>
        <p:spPr>
          <a:xfrm>
            <a:off x="8445335" y="5587766"/>
            <a:ext cx="3113314" cy="1058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/>
              <a:t>FileLogger</a:t>
            </a:r>
            <a:r>
              <a:rPr lang="en-US" sz="1600" dirty="0"/>
              <a:t> : </a:t>
            </a:r>
            <a:r>
              <a:rPr lang="en-US" sz="1600" dirty="0" err="1"/>
              <a:t>iLogger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WriteMessage</a:t>
            </a:r>
            <a:r>
              <a:rPr lang="en-US" sz="1600" dirty="0"/>
              <a:t>(String Information{}</a:t>
            </a:r>
          </a:p>
          <a:p>
            <a:r>
              <a:rPr lang="en-US" sz="1600" dirty="0"/>
              <a:t>}</a:t>
            </a:r>
          </a:p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404B6-A2DF-4F8F-9EDA-4001A85C72ED}"/>
              </a:ext>
            </a:extLst>
          </p:cNvPr>
          <p:cNvSpPr/>
          <p:nvPr/>
        </p:nvSpPr>
        <p:spPr>
          <a:xfrm>
            <a:off x="8421586" y="4326186"/>
            <a:ext cx="3113314" cy="1058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/>
              <a:t>DBLogger</a:t>
            </a:r>
            <a:r>
              <a:rPr lang="en-US" sz="1600" dirty="0"/>
              <a:t> : </a:t>
            </a:r>
            <a:r>
              <a:rPr lang="en-US" sz="1600" dirty="0" err="1"/>
              <a:t>iLogger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WriteMessage</a:t>
            </a:r>
            <a:r>
              <a:rPr lang="en-US" sz="1600" dirty="0"/>
              <a:t>(String Information{}</a:t>
            </a:r>
          </a:p>
          <a:p>
            <a:r>
              <a:rPr lang="en-US" sz="1600" dirty="0"/>
              <a:t>}</a:t>
            </a:r>
          </a:p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A175B3-FF98-4DAF-95A7-B4463F62C527}"/>
              </a:ext>
            </a:extLst>
          </p:cNvPr>
          <p:cNvSpPr/>
          <p:nvPr/>
        </p:nvSpPr>
        <p:spPr>
          <a:xfrm>
            <a:off x="4346369" y="2030681"/>
            <a:ext cx="3722914" cy="4631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LogFactory</a:t>
            </a:r>
            <a:endParaRPr lang="en-US" sz="1600" dirty="0"/>
          </a:p>
          <a:p>
            <a:r>
              <a:rPr lang="en-US" sz="1600" dirty="0"/>
              <a:t>{ </a:t>
            </a:r>
          </a:p>
          <a:p>
            <a:r>
              <a:rPr lang="en-US" sz="1600" dirty="0" err="1"/>
              <a:t>iLogger</a:t>
            </a:r>
            <a:r>
              <a:rPr lang="en-US" sz="1600" dirty="0"/>
              <a:t> logger ;</a:t>
            </a:r>
          </a:p>
          <a:p>
            <a:r>
              <a:rPr lang="en-US" sz="1600" dirty="0"/>
              <a:t>Switch(</a:t>
            </a:r>
            <a:r>
              <a:rPr lang="en-US" sz="1600" dirty="0" err="1"/>
              <a:t>LoggerType</a:t>
            </a:r>
            <a:r>
              <a:rPr lang="en-US" sz="1600" dirty="0"/>
              <a:t>)</a:t>
            </a:r>
          </a:p>
          <a:p>
            <a:r>
              <a:rPr lang="en-US" sz="1600" dirty="0"/>
              <a:t>    { </a:t>
            </a:r>
          </a:p>
          <a:p>
            <a:r>
              <a:rPr lang="en-US" sz="1600" dirty="0"/>
              <a:t>        case EV: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EventViewerLogger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case DB: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DBLogger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case FILE: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FileLogger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default: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EventViewerLogger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96CE6784-6595-42A9-A430-7D92DEE32321}"/>
              </a:ext>
            </a:extLst>
          </p:cNvPr>
          <p:cNvSpPr/>
          <p:nvPr/>
        </p:nvSpPr>
        <p:spPr>
          <a:xfrm>
            <a:off x="78057" y="3812994"/>
            <a:ext cx="3946568" cy="3000400"/>
          </a:xfrm>
          <a:prstGeom prst="cloud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apple-system"/>
              </a:rPr>
              <a:t>Product  </a:t>
            </a:r>
            <a:r>
              <a:rPr lang="en-US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apple-system"/>
              </a:rPr>
              <a:t>-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apple-system"/>
              </a:rPr>
              <a:t>defines the interface for factory pattern objects</a:t>
            </a:r>
          </a:p>
        </p:txBody>
      </p:sp>
    </p:spTree>
    <p:extLst>
      <p:ext uri="{BB962C8B-B14F-4D97-AF65-F5344CB8AC3E}">
        <p14:creationId xmlns:p14="http://schemas.microsoft.com/office/powerpoint/2010/main" val="2277397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27" y="403761"/>
            <a:ext cx="10984674" cy="625829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Factory Pattern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Creates an instance of several derived classes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F2BD7-24E6-4772-AA04-AE9E17C40C2E}"/>
              </a:ext>
            </a:extLst>
          </p:cNvPr>
          <p:cNvSpPr/>
          <p:nvPr/>
        </p:nvSpPr>
        <p:spPr>
          <a:xfrm>
            <a:off x="399801" y="2088268"/>
            <a:ext cx="3598224" cy="1572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…</a:t>
            </a:r>
          </a:p>
          <a:p>
            <a:r>
              <a:rPr lang="en-US" sz="1600" dirty="0"/>
              <a:t>…</a:t>
            </a:r>
          </a:p>
          <a:p>
            <a:r>
              <a:rPr lang="en-US" sz="1600" dirty="0" err="1"/>
              <a:t>iLogger</a:t>
            </a:r>
            <a:r>
              <a:rPr lang="en-US" sz="1600" dirty="0"/>
              <a:t> logger = </a:t>
            </a:r>
            <a:r>
              <a:rPr lang="en-US" sz="1600" dirty="0" err="1"/>
              <a:t>Logfactory.GetObject</a:t>
            </a:r>
            <a:r>
              <a:rPr lang="en-US" sz="1600" dirty="0"/>
              <a:t>();</a:t>
            </a:r>
          </a:p>
          <a:p>
            <a:r>
              <a:rPr lang="en-US" sz="1600" dirty="0" err="1"/>
              <a:t>Logger.WriteMessage</a:t>
            </a:r>
            <a:r>
              <a:rPr lang="en-US" sz="1600" dirty="0"/>
              <a:t>(Message)</a:t>
            </a:r>
          </a:p>
          <a:p>
            <a:r>
              <a:rPr lang="en-US" sz="1600" dirty="0"/>
              <a:t>…</a:t>
            </a:r>
          </a:p>
          <a:p>
            <a:r>
              <a:rPr lang="en-US" sz="1600" dirty="0"/>
              <a:t>…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ABFFF-AABB-48F7-A74D-BC81EC4E25B8}"/>
              </a:ext>
            </a:extLst>
          </p:cNvPr>
          <p:cNvSpPr/>
          <p:nvPr/>
        </p:nvSpPr>
        <p:spPr>
          <a:xfrm>
            <a:off x="8417627" y="3086229"/>
            <a:ext cx="3113314" cy="105826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>
                <a:solidFill>
                  <a:schemeClr val="tx1"/>
                </a:solidFill>
              </a:rPr>
              <a:t>EventViewerLogger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dirty="0" err="1">
                <a:solidFill>
                  <a:schemeClr val="tx1"/>
                </a:solidFill>
              </a:rPr>
              <a:t>iLogger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WriteMessage</a:t>
            </a:r>
            <a:r>
              <a:rPr lang="en-US" sz="1600" dirty="0">
                <a:solidFill>
                  <a:schemeClr val="tx1"/>
                </a:solidFill>
              </a:rPr>
              <a:t>(String Information{}</a:t>
            </a:r>
          </a:p>
          <a:p>
            <a:r>
              <a:rPr lang="en-US" sz="1600" dirty="0">
                <a:solidFill>
                  <a:schemeClr val="tx1"/>
                </a:solidFill>
              </a:rPr>
              <a:t>}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93528-6F89-4D16-BC36-7635B9E2DA5B}"/>
              </a:ext>
            </a:extLst>
          </p:cNvPr>
          <p:cNvSpPr/>
          <p:nvPr/>
        </p:nvSpPr>
        <p:spPr>
          <a:xfrm>
            <a:off x="8427522" y="1888463"/>
            <a:ext cx="3103419" cy="10582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Interface </a:t>
            </a:r>
            <a:r>
              <a:rPr lang="en-US" sz="1600" dirty="0" err="1">
                <a:solidFill>
                  <a:schemeClr val="tx1"/>
                </a:solidFill>
              </a:rPr>
              <a:t>iLogger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WriteMessage</a:t>
            </a:r>
            <a:r>
              <a:rPr lang="en-US" sz="1600" dirty="0">
                <a:solidFill>
                  <a:schemeClr val="tx1"/>
                </a:solidFill>
              </a:rPr>
              <a:t>(String information)</a:t>
            </a:r>
          </a:p>
          <a:p>
            <a:r>
              <a:rPr lang="en-US" sz="1600" dirty="0">
                <a:solidFill>
                  <a:schemeClr val="tx1"/>
                </a:solidFill>
              </a:rPr>
              <a:t>}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2AB639-09D0-4471-B106-3A2592A1520C}"/>
              </a:ext>
            </a:extLst>
          </p:cNvPr>
          <p:cNvSpPr/>
          <p:nvPr/>
        </p:nvSpPr>
        <p:spPr>
          <a:xfrm>
            <a:off x="8445335" y="5587766"/>
            <a:ext cx="3113314" cy="105826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>
                <a:solidFill>
                  <a:schemeClr val="tx1"/>
                </a:solidFill>
              </a:rPr>
              <a:t>FileLogger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dirty="0" err="1">
                <a:solidFill>
                  <a:schemeClr val="tx1"/>
                </a:solidFill>
              </a:rPr>
              <a:t>iLogger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WriteMessage</a:t>
            </a:r>
            <a:r>
              <a:rPr lang="en-US" sz="1600" dirty="0">
                <a:solidFill>
                  <a:schemeClr val="tx1"/>
                </a:solidFill>
              </a:rPr>
              <a:t>(String Information{}</a:t>
            </a:r>
          </a:p>
          <a:p>
            <a:r>
              <a:rPr lang="en-US" sz="1600" dirty="0">
                <a:solidFill>
                  <a:schemeClr val="tx1"/>
                </a:solidFill>
              </a:rPr>
              <a:t>}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404B6-A2DF-4F8F-9EDA-4001A85C72ED}"/>
              </a:ext>
            </a:extLst>
          </p:cNvPr>
          <p:cNvSpPr/>
          <p:nvPr/>
        </p:nvSpPr>
        <p:spPr>
          <a:xfrm>
            <a:off x="8421586" y="4326186"/>
            <a:ext cx="3113314" cy="105826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>
                <a:solidFill>
                  <a:schemeClr val="tx1"/>
                </a:solidFill>
              </a:rPr>
              <a:t>DBLogger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dirty="0" err="1">
                <a:solidFill>
                  <a:schemeClr val="tx1"/>
                </a:solidFill>
              </a:rPr>
              <a:t>iLogger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WriteMessage</a:t>
            </a:r>
            <a:r>
              <a:rPr lang="en-US" sz="1600" dirty="0">
                <a:solidFill>
                  <a:schemeClr val="tx1"/>
                </a:solidFill>
              </a:rPr>
              <a:t>(String Information{}</a:t>
            </a:r>
          </a:p>
          <a:p>
            <a:r>
              <a:rPr lang="en-US" sz="1600" dirty="0">
                <a:solidFill>
                  <a:schemeClr val="tx1"/>
                </a:solidFill>
              </a:rPr>
              <a:t>}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A175B3-FF98-4DAF-95A7-B4463F62C527}"/>
              </a:ext>
            </a:extLst>
          </p:cNvPr>
          <p:cNvSpPr/>
          <p:nvPr/>
        </p:nvSpPr>
        <p:spPr>
          <a:xfrm>
            <a:off x="4346369" y="2030681"/>
            <a:ext cx="3722914" cy="4631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LogFactory</a:t>
            </a:r>
            <a:endParaRPr lang="en-US" sz="1600" dirty="0"/>
          </a:p>
          <a:p>
            <a:r>
              <a:rPr lang="en-US" sz="1600" dirty="0"/>
              <a:t>{ </a:t>
            </a:r>
          </a:p>
          <a:p>
            <a:r>
              <a:rPr lang="en-US" sz="1600" dirty="0" err="1"/>
              <a:t>iLogger</a:t>
            </a:r>
            <a:r>
              <a:rPr lang="en-US" sz="1600" dirty="0"/>
              <a:t> logger ;</a:t>
            </a:r>
          </a:p>
          <a:p>
            <a:r>
              <a:rPr lang="en-US" sz="1600" dirty="0"/>
              <a:t>Switch(</a:t>
            </a:r>
            <a:r>
              <a:rPr lang="en-US" sz="1600" dirty="0" err="1"/>
              <a:t>LoggerType</a:t>
            </a:r>
            <a:r>
              <a:rPr lang="en-US" sz="1600" dirty="0"/>
              <a:t>)</a:t>
            </a:r>
          </a:p>
          <a:p>
            <a:r>
              <a:rPr lang="en-US" sz="1600" dirty="0"/>
              <a:t>    { </a:t>
            </a:r>
          </a:p>
          <a:p>
            <a:r>
              <a:rPr lang="en-US" sz="1600" dirty="0"/>
              <a:t>        case EV: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EventViewerLogger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case DB: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DBLogger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case FILE: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FileLogger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default: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EventViewerLogger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826091C1-3B7A-49B3-A11C-999B412CE97E}"/>
              </a:ext>
            </a:extLst>
          </p:cNvPr>
          <p:cNvSpPr/>
          <p:nvPr/>
        </p:nvSpPr>
        <p:spPr>
          <a:xfrm>
            <a:off x="78057" y="3812994"/>
            <a:ext cx="3946568" cy="3000400"/>
          </a:xfrm>
          <a:prstGeom prst="cloud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apple-system"/>
              </a:rPr>
              <a:t>Concreate Class  - 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apple-system"/>
              </a:rPr>
              <a:t>implements the interface</a:t>
            </a:r>
          </a:p>
        </p:txBody>
      </p:sp>
    </p:spTree>
    <p:extLst>
      <p:ext uri="{BB962C8B-B14F-4D97-AF65-F5344CB8AC3E}">
        <p14:creationId xmlns:p14="http://schemas.microsoft.com/office/powerpoint/2010/main" val="654922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27" y="403761"/>
            <a:ext cx="10984674" cy="625829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Factory Pattern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Creates an instance of several derived classes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F2BD7-24E6-4772-AA04-AE9E17C40C2E}"/>
              </a:ext>
            </a:extLst>
          </p:cNvPr>
          <p:cNvSpPr/>
          <p:nvPr/>
        </p:nvSpPr>
        <p:spPr>
          <a:xfrm>
            <a:off x="399801" y="2032512"/>
            <a:ext cx="3598224" cy="1572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…</a:t>
            </a:r>
          </a:p>
          <a:p>
            <a:r>
              <a:rPr lang="en-US" sz="1600" dirty="0"/>
              <a:t>…</a:t>
            </a:r>
          </a:p>
          <a:p>
            <a:r>
              <a:rPr lang="en-US" sz="1600" dirty="0" err="1"/>
              <a:t>iLogger</a:t>
            </a:r>
            <a:r>
              <a:rPr lang="en-US" sz="1600" dirty="0"/>
              <a:t> logger = </a:t>
            </a:r>
            <a:r>
              <a:rPr lang="en-US" sz="1600" dirty="0" err="1"/>
              <a:t>Logfactory.GetObject</a:t>
            </a:r>
            <a:r>
              <a:rPr lang="en-US" sz="1600" dirty="0"/>
              <a:t>();</a:t>
            </a:r>
          </a:p>
          <a:p>
            <a:r>
              <a:rPr lang="en-US" sz="1600" dirty="0" err="1"/>
              <a:t>Logger.WriteMessage</a:t>
            </a:r>
            <a:r>
              <a:rPr lang="en-US" sz="1600" dirty="0"/>
              <a:t>(Message)</a:t>
            </a:r>
          </a:p>
          <a:p>
            <a:r>
              <a:rPr lang="en-US" sz="1600" dirty="0"/>
              <a:t>…</a:t>
            </a:r>
          </a:p>
          <a:p>
            <a:r>
              <a:rPr lang="en-US" sz="1600" dirty="0"/>
              <a:t>…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ABFFF-AABB-48F7-A74D-BC81EC4E25B8}"/>
              </a:ext>
            </a:extLst>
          </p:cNvPr>
          <p:cNvSpPr/>
          <p:nvPr/>
        </p:nvSpPr>
        <p:spPr>
          <a:xfrm>
            <a:off x="8417627" y="3086229"/>
            <a:ext cx="3113314" cy="1058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/>
              <a:t>EventViewerLogger</a:t>
            </a:r>
            <a:r>
              <a:rPr lang="en-US" sz="1600" dirty="0"/>
              <a:t> : </a:t>
            </a:r>
            <a:r>
              <a:rPr lang="en-US" sz="1600" dirty="0" err="1"/>
              <a:t>iLogger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WriteMessage</a:t>
            </a:r>
            <a:r>
              <a:rPr lang="en-US" sz="1600" dirty="0"/>
              <a:t>(String Information{}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93528-6F89-4D16-BC36-7635B9E2DA5B}"/>
              </a:ext>
            </a:extLst>
          </p:cNvPr>
          <p:cNvSpPr/>
          <p:nvPr/>
        </p:nvSpPr>
        <p:spPr>
          <a:xfrm>
            <a:off x="8427522" y="1888463"/>
            <a:ext cx="3103419" cy="10582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Interface </a:t>
            </a:r>
            <a:r>
              <a:rPr lang="en-US" sz="1600" dirty="0" err="1"/>
              <a:t>iLogger</a:t>
            </a:r>
            <a:r>
              <a:rPr lang="en-US" sz="1600" dirty="0"/>
              <a:t> 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WriteMessage</a:t>
            </a:r>
            <a:r>
              <a:rPr lang="en-US" sz="1600" dirty="0"/>
              <a:t>(String information)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2AB639-09D0-4471-B106-3A2592A1520C}"/>
              </a:ext>
            </a:extLst>
          </p:cNvPr>
          <p:cNvSpPr/>
          <p:nvPr/>
        </p:nvSpPr>
        <p:spPr>
          <a:xfrm>
            <a:off x="8445335" y="5587766"/>
            <a:ext cx="3113314" cy="1058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/>
              <a:t>FileLogger</a:t>
            </a:r>
            <a:r>
              <a:rPr lang="en-US" sz="1600" dirty="0"/>
              <a:t> : </a:t>
            </a:r>
            <a:r>
              <a:rPr lang="en-US" sz="1600" dirty="0" err="1"/>
              <a:t>iLogger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WriteMessage</a:t>
            </a:r>
            <a:r>
              <a:rPr lang="en-US" sz="1600" dirty="0"/>
              <a:t>(String Information{}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404B6-A2DF-4F8F-9EDA-4001A85C72ED}"/>
              </a:ext>
            </a:extLst>
          </p:cNvPr>
          <p:cNvSpPr/>
          <p:nvPr/>
        </p:nvSpPr>
        <p:spPr>
          <a:xfrm>
            <a:off x="8421586" y="4326186"/>
            <a:ext cx="3113314" cy="1058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/>
              <a:t>DBLogger</a:t>
            </a:r>
            <a:r>
              <a:rPr lang="en-US" sz="1600" dirty="0"/>
              <a:t> : </a:t>
            </a:r>
            <a:r>
              <a:rPr lang="en-US" sz="1600" dirty="0" err="1"/>
              <a:t>iLogger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WriteMessage</a:t>
            </a:r>
            <a:r>
              <a:rPr lang="en-US" sz="1600" dirty="0"/>
              <a:t>(String Information{}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A175B3-FF98-4DAF-95A7-B4463F62C527}"/>
              </a:ext>
            </a:extLst>
          </p:cNvPr>
          <p:cNvSpPr/>
          <p:nvPr/>
        </p:nvSpPr>
        <p:spPr>
          <a:xfrm>
            <a:off x="4346369" y="2030681"/>
            <a:ext cx="3722914" cy="463137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LogFactory</a:t>
            </a:r>
            <a:endParaRPr lang="en-US" sz="1600" dirty="0"/>
          </a:p>
          <a:p>
            <a:r>
              <a:rPr lang="en-US" sz="1600" dirty="0"/>
              <a:t>{ </a:t>
            </a:r>
          </a:p>
          <a:p>
            <a:r>
              <a:rPr lang="en-US" sz="1600" dirty="0" err="1"/>
              <a:t>iLogger</a:t>
            </a:r>
            <a:r>
              <a:rPr lang="en-US" sz="1600" dirty="0"/>
              <a:t> logger ;</a:t>
            </a:r>
          </a:p>
          <a:p>
            <a:r>
              <a:rPr lang="en-US" sz="1600" dirty="0"/>
              <a:t>Switch(</a:t>
            </a:r>
            <a:r>
              <a:rPr lang="en-US" sz="1600" dirty="0" err="1"/>
              <a:t>LoggerType</a:t>
            </a:r>
            <a:r>
              <a:rPr lang="en-US" sz="1600" dirty="0"/>
              <a:t>)</a:t>
            </a:r>
          </a:p>
          <a:p>
            <a:r>
              <a:rPr lang="en-US" sz="1600" dirty="0"/>
              <a:t>    { </a:t>
            </a:r>
          </a:p>
          <a:p>
            <a:r>
              <a:rPr lang="en-US" sz="1600" dirty="0"/>
              <a:t>        case EV: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EventViewerLogger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case DB: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DBLogger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case FILE: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FileLogger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default:</a:t>
            </a:r>
          </a:p>
          <a:p>
            <a:r>
              <a:rPr lang="en-US" sz="1600" dirty="0"/>
              <a:t>           logger = new </a:t>
            </a:r>
            <a:r>
              <a:rPr lang="en-US" sz="1600" dirty="0" err="1"/>
              <a:t>EventViewerLogger</a:t>
            </a:r>
            <a:r>
              <a:rPr lang="en-US" sz="1600" dirty="0"/>
              <a:t>();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826091C1-3B7A-49B3-A11C-999B412CE97E}"/>
              </a:ext>
            </a:extLst>
          </p:cNvPr>
          <p:cNvSpPr/>
          <p:nvPr/>
        </p:nvSpPr>
        <p:spPr>
          <a:xfrm>
            <a:off x="78057" y="3812994"/>
            <a:ext cx="3946568" cy="3000400"/>
          </a:xfrm>
          <a:prstGeom prst="cloud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apple-system"/>
              </a:rPr>
              <a:t>Concreate Creator  - Hide the Object Creation logic and return appropriate concreate class</a:t>
            </a:r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648878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Down 1">
            <a:extLst>
              <a:ext uri="{FF2B5EF4-FFF2-40B4-BE49-F238E27FC236}">
                <a16:creationId xmlns:a16="http://schemas.microsoft.com/office/drawing/2014/main" id="{91DD4998-A92A-49FD-AEEE-39CDD0B3AD86}"/>
              </a:ext>
            </a:extLst>
          </p:cNvPr>
          <p:cNvSpPr/>
          <p:nvPr/>
        </p:nvSpPr>
        <p:spPr>
          <a:xfrm rot="10800000">
            <a:off x="257298" y="1839662"/>
            <a:ext cx="7816184" cy="4405020"/>
          </a:xfrm>
          <a:prstGeom prst="downArrow">
            <a:avLst>
              <a:gd name="adj1" fmla="val 72004"/>
              <a:gd name="adj2" fmla="val 5042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27" y="914401"/>
            <a:ext cx="10984674" cy="574765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Factory Pattern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ABFFF-AABB-48F7-A74D-BC81EC4E25B8}"/>
              </a:ext>
            </a:extLst>
          </p:cNvPr>
          <p:cNvSpPr/>
          <p:nvPr/>
        </p:nvSpPr>
        <p:spPr>
          <a:xfrm>
            <a:off x="1176578" y="3538452"/>
            <a:ext cx="1780766" cy="437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Concreate Class A</a:t>
            </a:r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93528-6F89-4D16-BC36-7635B9E2DA5B}"/>
              </a:ext>
            </a:extLst>
          </p:cNvPr>
          <p:cNvSpPr/>
          <p:nvPr/>
        </p:nvSpPr>
        <p:spPr>
          <a:xfrm>
            <a:off x="3307424" y="2528227"/>
            <a:ext cx="1681660" cy="437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Interface (Product)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A175B3-FF98-4DAF-95A7-B4463F62C527}"/>
              </a:ext>
            </a:extLst>
          </p:cNvPr>
          <p:cNvSpPr/>
          <p:nvPr/>
        </p:nvSpPr>
        <p:spPr>
          <a:xfrm>
            <a:off x="2898014" y="4839628"/>
            <a:ext cx="2500479" cy="1103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Concreate Creator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FD6197-D3A2-4909-8E1D-4A2AF16E9F01}"/>
              </a:ext>
            </a:extLst>
          </p:cNvPr>
          <p:cNvSpPr/>
          <p:nvPr/>
        </p:nvSpPr>
        <p:spPr>
          <a:xfrm>
            <a:off x="5274471" y="3538452"/>
            <a:ext cx="1780766" cy="437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Concreate Class C</a:t>
            </a:r>
          </a:p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B49D75-662B-4DAC-86B0-1D038B504CBC}"/>
              </a:ext>
            </a:extLst>
          </p:cNvPr>
          <p:cNvSpPr/>
          <p:nvPr/>
        </p:nvSpPr>
        <p:spPr>
          <a:xfrm>
            <a:off x="3208318" y="3538452"/>
            <a:ext cx="1780766" cy="437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Concreate Class B</a:t>
            </a:r>
          </a:p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1A9128-DD82-4D65-8B05-DC4778299F32}"/>
              </a:ext>
            </a:extLst>
          </p:cNvPr>
          <p:cNvCxnSpPr/>
          <p:nvPr/>
        </p:nvCxnSpPr>
        <p:spPr>
          <a:xfrm>
            <a:off x="5408341" y="5411909"/>
            <a:ext cx="3289610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7D842A6-ADDD-41F7-BEEE-19E9EF9ED1C5}"/>
              </a:ext>
            </a:extLst>
          </p:cNvPr>
          <p:cNvSpPr/>
          <p:nvPr/>
        </p:nvSpPr>
        <p:spPr>
          <a:xfrm>
            <a:off x="8707799" y="5086253"/>
            <a:ext cx="1780766" cy="6614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Required Object From Factory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01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817D-0618-4EF3-91B3-7B4E21537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6199" y="2894118"/>
            <a:ext cx="1892770" cy="763479"/>
          </a:xfrm>
        </p:spPr>
        <p:txBody>
          <a:bodyPr>
            <a:normAutofit/>
          </a:bodyPr>
          <a:lstStyle/>
          <a:p>
            <a:r>
              <a:rPr lang="en-US" sz="4000" dirty="0"/>
              <a:t>DEMO</a:t>
            </a:r>
            <a:endParaRPr lang="en-US" sz="4000" b="1" u="sng" dirty="0"/>
          </a:p>
        </p:txBody>
      </p:sp>
    </p:spTree>
    <p:extLst>
      <p:ext uri="{BB962C8B-B14F-4D97-AF65-F5344CB8AC3E}">
        <p14:creationId xmlns:p14="http://schemas.microsoft.com/office/powerpoint/2010/main" val="2201235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27" y="1294411"/>
            <a:ext cx="10735292" cy="3265714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Abstract Factory Pattern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The Abstract Factory design pattern is used to create </a:t>
            </a:r>
            <a:r>
              <a:rPr lang="en-US" sz="2600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families of related objects</a:t>
            </a: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without specifying their concrete classes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609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27" y="356840"/>
            <a:ext cx="10984674" cy="630521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Abstract Factory Pattern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91DD4998-A92A-49FD-AEEE-39CDD0B3AD86}"/>
              </a:ext>
            </a:extLst>
          </p:cNvPr>
          <p:cNvSpPr/>
          <p:nvPr/>
        </p:nvSpPr>
        <p:spPr>
          <a:xfrm rot="10800000">
            <a:off x="257297" y="1148576"/>
            <a:ext cx="7927697" cy="5513480"/>
          </a:xfrm>
          <a:prstGeom prst="downArrow">
            <a:avLst>
              <a:gd name="adj1" fmla="val 72004"/>
              <a:gd name="adj2" fmla="val 5042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93528-6F89-4D16-BC36-7635B9E2DA5B}"/>
              </a:ext>
            </a:extLst>
          </p:cNvPr>
          <p:cNvSpPr/>
          <p:nvPr/>
        </p:nvSpPr>
        <p:spPr>
          <a:xfrm>
            <a:off x="2533232" y="2398188"/>
            <a:ext cx="1120670" cy="29176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Interface 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A175B3-FF98-4DAF-95A7-B4463F62C527}"/>
              </a:ext>
            </a:extLst>
          </p:cNvPr>
          <p:cNvSpPr/>
          <p:nvPr/>
        </p:nvSpPr>
        <p:spPr>
          <a:xfrm>
            <a:off x="3133493" y="5869111"/>
            <a:ext cx="2371344" cy="6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/>
              <a:t>Concreate Creator</a:t>
            </a:r>
          </a:p>
          <a:p>
            <a:pPr algn="ctr"/>
            <a:r>
              <a:rPr lang="en-US" sz="1600" dirty="0"/>
              <a:t>Return Z1 / Z2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1A9128-DD82-4D65-8B05-DC4778299F3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504837" y="6181341"/>
            <a:ext cx="3323889" cy="379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7D842A6-ADDD-41F7-BEEE-19E9EF9ED1C5}"/>
              </a:ext>
            </a:extLst>
          </p:cNvPr>
          <p:cNvSpPr/>
          <p:nvPr/>
        </p:nvSpPr>
        <p:spPr>
          <a:xfrm>
            <a:off x="8840702" y="5839756"/>
            <a:ext cx="2109795" cy="6614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/>
              <a:t>Required Object From Abstract Factory</a:t>
            </a:r>
          </a:p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BE9EAB-E99C-4C38-ACAD-CA4BA8D41DE3}"/>
              </a:ext>
            </a:extLst>
          </p:cNvPr>
          <p:cNvSpPr/>
          <p:nvPr/>
        </p:nvSpPr>
        <p:spPr>
          <a:xfrm>
            <a:off x="4765980" y="2372150"/>
            <a:ext cx="1120670" cy="2917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Interface 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0FFEDF-1AF3-4A61-BCF6-E2EB8B44DC14}"/>
              </a:ext>
            </a:extLst>
          </p:cNvPr>
          <p:cNvSpPr/>
          <p:nvPr/>
        </p:nvSpPr>
        <p:spPr>
          <a:xfrm>
            <a:off x="1832680" y="3064127"/>
            <a:ext cx="745156" cy="39152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/>
              <a:t>Concreate Class X1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CEB2F6-E06B-4E2F-B61C-F94C0E47BDB7}"/>
              </a:ext>
            </a:extLst>
          </p:cNvPr>
          <p:cNvSpPr/>
          <p:nvPr/>
        </p:nvSpPr>
        <p:spPr>
          <a:xfrm>
            <a:off x="3283134" y="3037474"/>
            <a:ext cx="745156" cy="39152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/>
              <a:t>Concreate Class X2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369452-C80C-4873-9B32-9E9E74F79C6D}"/>
              </a:ext>
            </a:extLst>
          </p:cNvPr>
          <p:cNvSpPr/>
          <p:nvPr/>
        </p:nvSpPr>
        <p:spPr>
          <a:xfrm>
            <a:off x="4549856" y="3038111"/>
            <a:ext cx="745156" cy="39152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/>
              <a:t>Concreate Class Y1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16CB11-80BD-45D0-B483-43500CB011C4}"/>
              </a:ext>
            </a:extLst>
          </p:cNvPr>
          <p:cNvSpPr/>
          <p:nvPr/>
        </p:nvSpPr>
        <p:spPr>
          <a:xfrm>
            <a:off x="5694889" y="3011458"/>
            <a:ext cx="745156" cy="39152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/>
              <a:t>Concreate Class Y2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60E42F-F364-420E-B8B7-F2692407A310}"/>
              </a:ext>
            </a:extLst>
          </p:cNvPr>
          <p:cNvSpPr/>
          <p:nvPr/>
        </p:nvSpPr>
        <p:spPr>
          <a:xfrm>
            <a:off x="3666936" y="3877580"/>
            <a:ext cx="1628075" cy="78362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 Factory Z</a:t>
            </a:r>
          </a:p>
          <a:p>
            <a:r>
              <a:rPr lang="en-US" sz="1400" dirty="0"/>
              <a:t>Interface X</a:t>
            </a:r>
          </a:p>
          <a:p>
            <a:r>
              <a:rPr lang="en-US" sz="1400" dirty="0"/>
              <a:t>Interface 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29D084-A1EE-47C0-825D-0E15332F242D}"/>
              </a:ext>
            </a:extLst>
          </p:cNvPr>
          <p:cNvSpPr/>
          <p:nvPr/>
        </p:nvSpPr>
        <p:spPr>
          <a:xfrm>
            <a:off x="2234921" y="4876230"/>
            <a:ext cx="1628075" cy="78362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Concreate Class Z1</a:t>
            </a:r>
          </a:p>
          <a:p>
            <a:r>
              <a:rPr lang="en-US" sz="1400" dirty="0"/>
              <a:t>Class X1</a:t>
            </a:r>
          </a:p>
          <a:p>
            <a:r>
              <a:rPr lang="en-US" sz="1400" dirty="0"/>
              <a:t>Class Y2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AC21B7-83A1-439B-BD21-C6C70DBB42AB}"/>
              </a:ext>
            </a:extLst>
          </p:cNvPr>
          <p:cNvSpPr/>
          <p:nvPr/>
        </p:nvSpPr>
        <p:spPr>
          <a:xfrm>
            <a:off x="5074768" y="4865078"/>
            <a:ext cx="1628075" cy="78362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Concreate Class Z2</a:t>
            </a:r>
          </a:p>
          <a:p>
            <a:r>
              <a:rPr lang="en-US" sz="1400" dirty="0"/>
              <a:t>Class X2</a:t>
            </a:r>
          </a:p>
          <a:p>
            <a:r>
              <a:rPr lang="en-US" sz="1400" dirty="0"/>
              <a:t>Class Y1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94B2A5F-0D4C-4107-9685-223FDEA17DA8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2205258" y="2689955"/>
            <a:ext cx="670899" cy="374172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544B8D-1570-4AF1-A37B-E41CC5B4B727}"/>
              </a:ext>
            </a:extLst>
          </p:cNvPr>
          <p:cNvCxnSpPr>
            <a:endCxn id="22" idx="0"/>
          </p:cNvCxnSpPr>
          <p:nvPr/>
        </p:nvCxnSpPr>
        <p:spPr>
          <a:xfrm>
            <a:off x="3133493" y="2689955"/>
            <a:ext cx="522219" cy="347519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4C2740-06E9-4082-9C22-3561408ECD33}"/>
              </a:ext>
            </a:extLst>
          </p:cNvPr>
          <p:cNvCxnSpPr>
            <a:cxnSpLocks/>
          </p:cNvCxnSpPr>
          <p:nvPr/>
        </p:nvCxnSpPr>
        <p:spPr>
          <a:xfrm flipH="1">
            <a:off x="4874652" y="2663917"/>
            <a:ext cx="235779" cy="374172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64AEFBC-19C8-474F-B23D-95C0E959D27C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5694889" y="2613368"/>
            <a:ext cx="372578" cy="398090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6ADAE5D-CB13-4966-9155-7D76493A919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76158" y="4269394"/>
            <a:ext cx="777747" cy="595684"/>
          </a:xfrm>
          <a:prstGeom prst="bentConnector3">
            <a:avLst>
              <a:gd name="adj1" fmla="val 100387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7EF3261-5F27-4BE6-B149-1B0318925E03}"/>
              </a:ext>
            </a:extLst>
          </p:cNvPr>
          <p:cNvCxnSpPr>
            <a:cxnSpLocks/>
            <a:endCxn id="27" idx="0"/>
          </p:cNvCxnSpPr>
          <p:nvPr/>
        </p:nvCxnSpPr>
        <p:spPr>
          <a:xfrm rot="16200000" flipH="1">
            <a:off x="5294066" y="4270338"/>
            <a:ext cx="595684" cy="593796"/>
          </a:xfrm>
          <a:prstGeom prst="bentConnector3">
            <a:avLst>
              <a:gd name="adj1" fmla="val -3826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159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660" y="415636"/>
            <a:ext cx="4963885" cy="72439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Abstract Factory Pattern</a:t>
            </a:r>
          </a:p>
          <a:p>
            <a:pPr marL="0" indent="0">
              <a:spcBef>
                <a:spcPts val="600"/>
              </a:spcBef>
              <a:buNone/>
            </a:pP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F2BD7-24E6-4772-AA04-AE9E17C40C2E}"/>
              </a:ext>
            </a:extLst>
          </p:cNvPr>
          <p:cNvSpPr/>
          <p:nvPr/>
        </p:nvSpPr>
        <p:spPr>
          <a:xfrm>
            <a:off x="771475" y="3994296"/>
            <a:ext cx="2609962" cy="119149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abstract class Assets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iMobile</a:t>
            </a:r>
            <a:r>
              <a:rPr lang="en-US" sz="1400" dirty="0"/>
              <a:t> Mobile;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iSystem</a:t>
            </a:r>
            <a:r>
              <a:rPr lang="en-US" sz="1400" dirty="0"/>
              <a:t> System;</a:t>
            </a:r>
          </a:p>
          <a:p>
            <a:r>
              <a:rPr lang="en-US" sz="1400" dirty="0"/>
              <a:t>} 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ABFFF-AABB-48F7-A74D-BC81EC4E25B8}"/>
              </a:ext>
            </a:extLst>
          </p:cNvPr>
          <p:cNvSpPr/>
          <p:nvPr/>
        </p:nvSpPr>
        <p:spPr>
          <a:xfrm>
            <a:off x="4092061" y="1283975"/>
            <a:ext cx="1743692" cy="25728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 err="1"/>
              <a:t>IPhone</a:t>
            </a:r>
            <a:r>
              <a:rPr lang="en-US" sz="1200" dirty="0"/>
              <a:t> : </a:t>
            </a:r>
            <a:r>
              <a:rPr lang="en-US" sz="1200" dirty="0" err="1"/>
              <a:t>iMobile</a:t>
            </a:r>
            <a:endParaRPr lang="en-US" sz="1200" dirty="0"/>
          </a:p>
          <a:p>
            <a:r>
              <a:rPr lang="en-US" sz="1600" dirty="0"/>
              <a:t> </a:t>
            </a:r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93528-6F89-4D16-BC36-7635B9E2DA5B}"/>
              </a:ext>
            </a:extLst>
          </p:cNvPr>
          <p:cNvSpPr/>
          <p:nvPr/>
        </p:nvSpPr>
        <p:spPr>
          <a:xfrm>
            <a:off x="1606672" y="1461072"/>
            <a:ext cx="1607127" cy="33222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Interface </a:t>
            </a:r>
            <a:r>
              <a:rPr lang="en-US" sz="1400" dirty="0" err="1"/>
              <a:t>iMobile</a:t>
            </a:r>
            <a:endParaRPr lang="en-US" sz="1400" dirty="0"/>
          </a:p>
          <a:p>
            <a:r>
              <a:rPr lang="en-US" sz="1600" dirty="0"/>
              <a:t> </a:t>
            </a:r>
          </a:p>
          <a:p>
            <a:pPr algn="ctr"/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2AB639-09D0-4471-B106-3A2592A1520C}"/>
              </a:ext>
            </a:extLst>
          </p:cNvPr>
          <p:cNvSpPr/>
          <p:nvPr/>
        </p:nvSpPr>
        <p:spPr>
          <a:xfrm>
            <a:off x="1606671" y="2553908"/>
            <a:ext cx="1607127" cy="31112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Interface </a:t>
            </a:r>
            <a:r>
              <a:rPr lang="en-US" sz="1400" dirty="0" err="1"/>
              <a:t>iSystem</a:t>
            </a:r>
            <a:endParaRPr lang="en-US" sz="1400" dirty="0"/>
          </a:p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404B6-A2DF-4F8F-9EDA-4001A85C72ED}"/>
              </a:ext>
            </a:extLst>
          </p:cNvPr>
          <p:cNvSpPr/>
          <p:nvPr/>
        </p:nvSpPr>
        <p:spPr>
          <a:xfrm>
            <a:off x="4092061" y="1773015"/>
            <a:ext cx="1743692" cy="25728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/>
              <a:t>Samsung : </a:t>
            </a:r>
            <a:r>
              <a:rPr lang="en-US" sz="1200" dirty="0" err="1"/>
              <a:t>iMobile</a:t>
            </a:r>
            <a:endParaRPr lang="en-US" sz="1200" dirty="0"/>
          </a:p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A175B3-FF98-4DAF-95A7-B4463F62C527}"/>
              </a:ext>
            </a:extLst>
          </p:cNvPr>
          <p:cNvSpPr/>
          <p:nvPr/>
        </p:nvSpPr>
        <p:spPr>
          <a:xfrm>
            <a:off x="7562243" y="1452313"/>
            <a:ext cx="3598224" cy="4275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AssetFactory</a:t>
            </a:r>
            <a:endParaRPr lang="en-US" sz="1600" dirty="0"/>
          </a:p>
          <a:p>
            <a:r>
              <a:rPr lang="en-US" sz="1600" dirty="0"/>
              <a:t>{ </a:t>
            </a:r>
          </a:p>
          <a:p>
            <a:r>
              <a:rPr lang="en-US" sz="1600" dirty="0"/>
              <a:t>Assets device ;</a:t>
            </a:r>
          </a:p>
          <a:p>
            <a:r>
              <a:rPr lang="en-US" sz="1600" dirty="0"/>
              <a:t>Switch(</a:t>
            </a:r>
            <a:r>
              <a:rPr lang="en-US" sz="1600" dirty="0" err="1"/>
              <a:t>deviceType</a:t>
            </a:r>
            <a:r>
              <a:rPr lang="en-US" sz="1600" dirty="0"/>
              <a:t>)</a:t>
            </a:r>
          </a:p>
          <a:p>
            <a:r>
              <a:rPr lang="en-US" sz="1600" dirty="0"/>
              <a:t>    { </a:t>
            </a:r>
          </a:p>
          <a:p>
            <a:r>
              <a:rPr lang="en-US" sz="1600" dirty="0"/>
              <a:t>        case “FULLTIME”:</a:t>
            </a:r>
          </a:p>
          <a:p>
            <a:r>
              <a:rPr lang="en-US" sz="1600" dirty="0"/>
              <a:t>           device = new </a:t>
            </a:r>
            <a:r>
              <a:rPr lang="en-US" sz="1600" dirty="0" err="1"/>
              <a:t>ExecutiveAssets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case “CONTRACT”:</a:t>
            </a:r>
          </a:p>
          <a:p>
            <a:r>
              <a:rPr lang="en-US" sz="1600" dirty="0"/>
              <a:t>           device = new </a:t>
            </a:r>
            <a:r>
              <a:rPr lang="en-US" sz="1600" dirty="0" err="1"/>
              <a:t>SeniorAssets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    case “TRAINEE”:</a:t>
            </a:r>
          </a:p>
          <a:p>
            <a:r>
              <a:rPr lang="en-US" sz="1600" dirty="0"/>
              <a:t>           device = new </a:t>
            </a:r>
            <a:r>
              <a:rPr lang="en-US" sz="1600" dirty="0" err="1"/>
              <a:t>JuniorAssets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   break;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return device;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731ED9-5243-408A-81A8-892B7A36443D}"/>
              </a:ext>
            </a:extLst>
          </p:cNvPr>
          <p:cNvSpPr/>
          <p:nvPr/>
        </p:nvSpPr>
        <p:spPr>
          <a:xfrm>
            <a:off x="4092061" y="2287684"/>
            <a:ext cx="1911930" cy="2420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 err="1"/>
              <a:t>AppleLaptop</a:t>
            </a:r>
            <a:r>
              <a:rPr lang="en-US" sz="1200" dirty="0"/>
              <a:t> : </a:t>
            </a:r>
            <a:r>
              <a:rPr lang="en-US" sz="1200" dirty="0" err="1"/>
              <a:t>iSystem</a:t>
            </a:r>
            <a:endParaRPr lang="en-US" sz="1200" dirty="0"/>
          </a:p>
          <a:p>
            <a:r>
              <a:rPr lang="en-US" sz="1600" dirty="0"/>
              <a:t> </a:t>
            </a:r>
          </a:p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831C2E-2D0E-434D-9C0B-9579E663640B}"/>
              </a:ext>
            </a:extLst>
          </p:cNvPr>
          <p:cNvSpPr/>
          <p:nvPr/>
        </p:nvSpPr>
        <p:spPr>
          <a:xfrm>
            <a:off x="4092061" y="2778783"/>
            <a:ext cx="1911930" cy="26017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 err="1"/>
              <a:t>DellLaptop</a:t>
            </a:r>
            <a:r>
              <a:rPr lang="en-US" sz="1200" dirty="0"/>
              <a:t> : </a:t>
            </a:r>
            <a:r>
              <a:rPr lang="en-US" sz="1200" dirty="0" err="1"/>
              <a:t>iSystem</a:t>
            </a:r>
            <a:endParaRPr lang="en-US" sz="1200" dirty="0"/>
          </a:p>
          <a:p>
            <a:r>
              <a:rPr lang="en-US" sz="1600" dirty="0"/>
              <a:t> </a:t>
            </a:r>
          </a:p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AA53D5-95CA-4964-89DF-FC59D49F699A}"/>
              </a:ext>
            </a:extLst>
          </p:cNvPr>
          <p:cNvSpPr/>
          <p:nvPr/>
        </p:nvSpPr>
        <p:spPr>
          <a:xfrm>
            <a:off x="4092062" y="3340995"/>
            <a:ext cx="2658939" cy="99342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/>
              <a:t>class </a:t>
            </a:r>
            <a:r>
              <a:rPr lang="en-US" sz="1200" dirty="0" err="1"/>
              <a:t>ExecutiveAsset</a:t>
            </a:r>
            <a:r>
              <a:rPr lang="en-US" sz="1200" dirty="0"/>
              <a:t> : Assets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iMobile</a:t>
            </a:r>
            <a:r>
              <a:rPr lang="en-US" sz="1200" dirty="0"/>
              <a:t> Mobile = new </a:t>
            </a:r>
            <a:r>
              <a:rPr lang="en-US" sz="1200" dirty="0" err="1"/>
              <a:t>IPhone</a:t>
            </a:r>
            <a:r>
              <a:rPr lang="en-US" sz="1200" dirty="0"/>
              <a:t>();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iSystem</a:t>
            </a:r>
            <a:r>
              <a:rPr lang="en-US" sz="1200" dirty="0"/>
              <a:t> System = new </a:t>
            </a:r>
            <a:r>
              <a:rPr lang="en-US" sz="1200" dirty="0" err="1"/>
              <a:t>AppleLaptop</a:t>
            </a:r>
            <a:r>
              <a:rPr lang="en-US" sz="1200" dirty="0"/>
              <a:t>();</a:t>
            </a:r>
          </a:p>
          <a:p>
            <a:r>
              <a:rPr lang="en-US" sz="1200" dirty="0"/>
              <a:t>}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403161-4B31-48E7-8FF3-4198D9B7A877}"/>
              </a:ext>
            </a:extLst>
          </p:cNvPr>
          <p:cNvSpPr/>
          <p:nvPr/>
        </p:nvSpPr>
        <p:spPr>
          <a:xfrm>
            <a:off x="4092061" y="4590044"/>
            <a:ext cx="2658939" cy="99342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/>
              <a:t>class </a:t>
            </a:r>
            <a:r>
              <a:rPr lang="en-US" sz="1200" dirty="0" err="1"/>
              <a:t>SeniorAsset</a:t>
            </a:r>
            <a:r>
              <a:rPr lang="en-US" sz="1200" dirty="0"/>
              <a:t> : Assets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iMobile</a:t>
            </a:r>
            <a:r>
              <a:rPr lang="en-US" sz="1200" dirty="0"/>
              <a:t> Mobile=new </a:t>
            </a:r>
            <a:r>
              <a:rPr lang="en-US" sz="1200" dirty="0" err="1"/>
              <a:t>IPhone</a:t>
            </a:r>
            <a:r>
              <a:rPr lang="en-US" sz="1200" dirty="0"/>
              <a:t>();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iSystem</a:t>
            </a:r>
            <a:r>
              <a:rPr lang="en-US" sz="1200" dirty="0"/>
              <a:t> System = new </a:t>
            </a:r>
            <a:r>
              <a:rPr lang="en-US" sz="1200" dirty="0" err="1"/>
              <a:t>DellLaptop</a:t>
            </a:r>
            <a:r>
              <a:rPr lang="en-US" sz="1200" dirty="0"/>
              <a:t>();</a:t>
            </a:r>
          </a:p>
          <a:p>
            <a:r>
              <a:rPr lang="en-US" sz="1200" dirty="0"/>
              <a:t>}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75E44B-C9C8-49DC-8F3B-94664298F106}"/>
              </a:ext>
            </a:extLst>
          </p:cNvPr>
          <p:cNvSpPr/>
          <p:nvPr/>
        </p:nvSpPr>
        <p:spPr>
          <a:xfrm>
            <a:off x="4092061" y="5802206"/>
            <a:ext cx="2658939" cy="99342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/>
              <a:t>class </a:t>
            </a:r>
            <a:r>
              <a:rPr lang="en-US" sz="1200" dirty="0" err="1"/>
              <a:t>JuniorAsset</a:t>
            </a:r>
            <a:r>
              <a:rPr lang="en-US" sz="1200" dirty="0"/>
              <a:t> : Assets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iMobile</a:t>
            </a:r>
            <a:r>
              <a:rPr lang="en-US" sz="1200" dirty="0"/>
              <a:t> Mobile = new Samsung();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iSystem</a:t>
            </a:r>
            <a:r>
              <a:rPr lang="en-US" sz="1200" dirty="0"/>
              <a:t> System = new </a:t>
            </a:r>
            <a:r>
              <a:rPr lang="en-US" sz="1200" dirty="0" err="1"/>
              <a:t>DellLaptop</a:t>
            </a:r>
            <a:r>
              <a:rPr lang="en-US" sz="1200" dirty="0"/>
              <a:t>();</a:t>
            </a:r>
          </a:p>
          <a:p>
            <a:r>
              <a:rPr lang="en-US" sz="12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217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817D-0618-4EF3-91B3-7B4E21537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6199" y="2894118"/>
            <a:ext cx="1892770" cy="763479"/>
          </a:xfrm>
        </p:spPr>
        <p:txBody>
          <a:bodyPr>
            <a:normAutofit/>
          </a:bodyPr>
          <a:lstStyle/>
          <a:p>
            <a:r>
              <a:rPr lang="en-US" sz="4000" dirty="0"/>
              <a:t>DEMO</a:t>
            </a:r>
            <a:endParaRPr lang="en-US" sz="4000" b="1" u="sng" dirty="0"/>
          </a:p>
        </p:txBody>
      </p:sp>
    </p:spTree>
    <p:extLst>
      <p:ext uri="{BB962C8B-B14F-4D97-AF65-F5344CB8AC3E}">
        <p14:creationId xmlns:p14="http://schemas.microsoft.com/office/powerpoint/2010/main" val="428087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2717" y="2675812"/>
            <a:ext cx="6742678" cy="122228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Prototype Design Pattern </a:t>
            </a:r>
          </a:p>
        </p:txBody>
      </p:sp>
    </p:spTree>
    <p:extLst>
      <p:ext uri="{BB962C8B-B14F-4D97-AF65-F5344CB8AC3E}">
        <p14:creationId xmlns:p14="http://schemas.microsoft.com/office/powerpoint/2010/main" val="1101237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27" y="1169581"/>
            <a:ext cx="9485878" cy="37932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Prototype Design Pattern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 Prototype design pattern is used to create </a:t>
            </a:r>
            <a:r>
              <a:rPr lang="en-US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from existing objects.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When Object Creation is complex and requires more time, then we can reuse existing object to create new Object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103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779" y="1031846"/>
            <a:ext cx="9727852" cy="518439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Prototype Pattern 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design pattern is part of creational Pattern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can Create/Copy/Clone object from objects existing object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New Object Changes should not affect source object 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get performance benefit, while creating duplicate complex object 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903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817D-0618-4EF3-91B3-7B4E21537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7275" y="1392868"/>
            <a:ext cx="3476846" cy="659218"/>
          </a:xfrm>
        </p:spPr>
        <p:txBody>
          <a:bodyPr anchor="t">
            <a:normAutofit fontScale="90000"/>
          </a:bodyPr>
          <a:lstStyle/>
          <a:p>
            <a:r>
              <a:rPr lang="en-US" sz="3100" dirty="0"/>
              <a:t>Requirement</a:t>
            </a:r>
            <a:r>
              <a:rPr lang="en-US" sz="2400" dirty="0"/>
              <a:t> </a:t>
            </a:r>
            <a:br>
              <a:rPr lang="en-US" sz="2000" cap="none" dirty="0"/>
            </a:br>
            <a:br>
              <a:rPr lang="en-US" sz="2000" cap="none" dirty="0"/>
            </a:br>
            <a:r>
              <a:rPr lang="en-US" sz="2000" cap="none" dirty="0"/>
              <a:t>	</a:t>
            </a:r>
            <a:endParaRPr lang="en-US" sz="2000" b="1" u="sng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6AA076-0E15-4198-9F9A-D5E1CCE1D523}"/>
              </a:ext>
            </a:extLst>
          </p:cNvPr>
          <p:cNvSpPr txBox="1">
            <a:spLocks/>
          </p:cNvSpPr>
          <p:nvPr/>
        </p:nvSpPr>
        <p:spPr>
          <a:xfrm>
            <a:off x="2339162" y="2052086"/>
            <a:ext cx="7825563" cy="38915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cap="none" dirty="0"/>
              <a:t>We need to get new car price and depreciation values from external service (which requires additional time)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cap="none" dirty="0"/>
              <a:t>Based on these values we need to create object 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cap="none" dirty="0"/>
              <a:t>We need one more object to calculate old car values for same model. This new car changes should not impact any old car parameters</a:t>
            </a:r>
            <a:r>
              <a:rPr lang="en-US" sz="2400" dirty="0"/>
              <a:t> </a:t>
            </a:r>
            <a:br>
              <a:rPr lang="en-US" sz="2000" cap="none" dirty="0"/>
            </a:br>
            <a:br>
              <a:rPr lang="en-US" sz="2000" cap="none" dirty="0"/>
            </a:br>
            <a:r>
              <a:rPr lang="en-US" sz="2000" cap="none" dirty="0"/>
              <a:t>	</a:t>
            </a:r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31801139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817D-0618-4EF3-91B3-7B4E21537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6199" y="2894118"/>
            <a:ext cx="1892770" cy="763479"/>
          </a:xfrm>
        </p:spPr>
        <p:txBody>
          <a:bodyPr>
            <a:normAutofit/>
          </a:bodyPr>
          <a:lstStyle/>
          <a:p>
            <a:r>
              <a:rPr lang="en-US" sz="4000" dirty="0"/>
              <a:t>DEMO</a:t>
            </a:r>
            <a:endParaRPr lang="en-US" sz="4000" b="1" u="sng" dirty="0"/>
          </a:p>
        </p:txBody>
      </p:sp>
    </p:spTree>
    <p:extLst>
      <p:ext uri="{BB962C8B-B14F-4D97-AF65-F5344CB8AC3E}">
        <p14:creationId xmlns:p14="http://schemas.microsoft.com/office/powerpoint/2010/main" val="415687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2717" y="2675812"/>
            <a:ext cx="6742678" cy="122228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Builder Design Pattern </a:t>
            </a:r>
          </a:p>
        </p:txBody>
      </p:sp>
    </p:spTree>
    <p:extLst>
      <p:ext uri="{BB962C8B-B14F-4D97-AF65-F5344CB8AC3E}">
        <p14:creationId xmlns:p14="http://schemas.microsoft.com/office/powerpoint/2010/main" val="785863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971" y="1498064"/>
            <a:ext cx="9485878" cy="37932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Builder Design Pattern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 Builder design pattern is used to separate the complex object creation process. Same Object construction process is used to create different objects.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34882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ECC2D-F7DF-447C-9E1A-9570235A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779" y="1031846"/>
            <a:ext cx="9727852" cy="518439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Builder Pattern 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Builder design pattern is part of creational Pattern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Separates the complex object creation logic. The same construction process used to create different object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pattern used to create fully initialized objects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Suitable only for complex object creation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Requires additional code  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423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41EAB1-7249-4067-8223-0D8991D087B9}"/>
              </a:ext>
            </a:extLst>
          </p:cNvPr>
          <p:cNvGrpSpPr/>
          <p:nvPr/>
        </p:nvGrpSpPr>
        <p:grpSpPr>
          <a:xfrm>
            <a:off x="2352586" y="390617"/>
            <a:ext cx="8114186" cy="6187736"/>
            <a:chOff x="2716571" y="390617"/>
            <a:chExt cx="7696935" cy="594803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9FB1CA0-9812-40EC-877D-DC5D7A60429A}"/>
                </a:ext>
              </a:extLst>
            </p:cNvPr>
            <p:cNvGrpSpPr/>
            <p:nvPr/>
          </p:nvGrpSpPr>
          <p:grpSpPr>
            <a:xfrm>
              <a:off x="2716571" y="390617"/>
              <a:ext cx="7696935" cy="5948039"/>
              <a:chOff x="1819927" y="0"/>
              <a:chExt cx="7696935" cy="5948039"/>
            </a:xfrm>
          </p:grpSpPr>
          <p:sp>
            <p:nvSpPr>
              <p:cNvPr id="14" name="Cloud 13">
                <a:extLst>
                  <a:ext uri="{FF2B5EF4-FFF2-40B4-BE49-F238E27FC236}">
                    <a16:creationId xmlns:a16="http://schemas.microsoft.com/office/drawing/2014/main" id="{00CA2B53-DBDF-48AF-AD3E-833A1416775E}"/>
                  </a:ext>
                </a:extLst>
              </p:cNvPr>
              <p:cNvSpPr/>
              <p:nvPr/>
            </p:nvSpPr>
            <p:spPr>
              <a:xfrm>
                <a:off x="1819927" y="0"/>
                <a:ext cx="7696935" cy="5948039"/>
              </a:xfrm>
              <a:prstGeom prst="cloud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eCommerce Portal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58BB1A9-C38D-40ED-9AA6-FDDEDC071AA5}"/>
                  </a:ext>
                </a:extLst>
              </p:cNvPr>
              <p:cNvSpPr/>
              <p:nvPr/>
            </p:nvSpPr>
            <p:spPr>
              <a:xfrm>
                <a:off x="3231472" y="1784413"/>
                <a:ext cx="958788" cy="9676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Desktop /</a:t>
                </a:r>
              </a:p>
              <a:p>
                <a:pPr algn="ctr"/>
                <a:r>
                  <a:rPr lang="en-US" sz="1600" dirty="0"/>
                  <a:t>Laptop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149C01A-8DCB-43D3-96A9-24486FBFC7FF}"/>
                  </a:ext>
                </a:extLst>
              </p:cNvPr>
              <p:cNvSpPr/>
              <p:nvPr/>
            </p:nvSpPr>
            <p:spPr>
              <a:xfrm>
                <a:off x="4955220" y="1784413"/>
                <a:ext cx="958788" cy="9676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Processor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066CBBC-89FA-4071-8288-90AF8A0138C0}"/>
                  </a:ext>
                </a:extLst>
              </p:cNvPr>
              <p:cNvSpPr/>
              <p:nvPr/>
            </p:nvSpPr>
            <p:spPr>
              <a:xfrm>
                <a:off x="6677769" y="1774888"/>
                <a:ext cx="958788" cy="9676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Memory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0D03FB5-0B1E-4926-A4CA-5839FD863AA3}"/>
                  </a:ext>
                </a:extLst>
              </p:cNvPr>
              <p:cNvSpPr/>
              <p:nvPr/>
            </p:nvSpPr>
            <p:spPr>
              <a:xfrm>
                <a:off x="6677769" y="3377630"/>
                <a:ext cx="958788" cy="9676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Storage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B16A6F-D26C-460B-885A-8EA890B77A64}"/>
                  </a:ext>
                </a:extLst>
              </p:cNvPr>
              <p:cNvSpPr/>
              <p:nvPr/>
            </p:nvSpPr>
            <p:spPr>
              <a:xfrm>
                <a:off x="4955220" y="3422342"/>
                <a:ext cx="958788" cy="9676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/>
                  <a:t>Additional Devices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0786B0F-094E-4EBD-B307-44282FB1F20C}"/>
                  </a:ext>
                </a:extLst>
              </p:cNvPr>
              <p:cNvSpPr/>
              <p:nvPr/>
            </p:nvSpPr>
            <p:spPr>
              <a:xfrm>
                <a:off x="3231472" y="3422342"/>
                <a:ext cx="958788" cy="9676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Checkout</a:t>
                </a:r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8AC1B64-4BA1-4C2D-ADDB-2BB291FBBCA9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>
              <a:off x="5086904" y="2658863"/>
              <a:ext cx="764960" cy="0"/>
            </a:xfrm>
            <a:prstGeom prst="straightConnector1">
              <a:avLst/>
            </a:prstGeom>
            <a:ln w="3492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4E42AEE-646B-4B0C-927E-CCA258C37B70}"/>
                </a:ext>
              </a:extLst>
            </p:cNvPr>
            <p:cNvCxnSpPr/>
            <p:nvPr/>
          </p:nvCxnSpPr>
          <p:spPr>
            <a:xfrm>
              <a:off x="6801404" y="2658863"/>
              <a:ext cx="764960" cy="0"/>
            </a:xfrm>
            <a:prstGeom prst="straightConnector1">
              <a:avLst/>
            </a:prstGeom>
            <a:ln w="3492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1994117-5179-48C5-8290-0E5F6B5B0D41}"/>
                </a:ext>
              </a:extLst>
            </p:cNvPr>
            <p:cNvCxnSpPr/>
            <p:nvPr/>
          </p:nvCxnSpPr>
          <p:spPr>
            <a:xfrm>
              <a:off x="6810929" y="4297163"/>
              <a:ext cx="764960" cy="0"/>
            </a:xfrm>
            <a:prstGeom prst="straightConnector1">
              <a:avLst/>
            </a:prstGeom>
            <a:ln w="34925">
              <a:solidFill>
                <a:schemeClr val="accent3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C2BB3CB-98B1-426F-84C5-E1B02B8301B2}"/>
                </a:ext>
              </a:extLst>
            </p:cNvPr>
            <p:cNvCxnSpPr/>
            <p:nvPr/>
          </p:nvCxnSpPr>
          <p:spPr>
            <a:xfrm>
              <a:off x="5079413" y="4299705"/>
              <a:ext cx="764960" cy="0"/>
            </a:xfrm>
            <a:prstGeom prst="straightConnector1">
              <a:avLst/>
            </a:prstGeom>
            <a:ln w="34925">
              <a:solidFill>
                <a:schemeClr val="accent3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730ECA3-2319-42CE-A0C9-E73DB359A8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3807" y="3116986"/>
              <a:ext cx="14422" cy="670311"/>
            </a:xfrm>
            <a:prstGeom prst="straightConnector1">
              <a:avLst/>
            </a:prstGeom>
            <a:ln w="34925">
              <a:solidFill>
                <a:schemeClr val="accent3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72255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5E5384-96CD-419A-8AE1-2EB2EF1EC8D1}"/>
              </a:ext>
            </a:extLst>
          </p:cNvPr>
          <p:cNvSpPr/>
          <p:nvPr/>
        </p:nvSpPr>
        <p:spPr>
          <a:xfrm>
            <a:off x="2633665" y="1347786"/>
            <a:ext cx="4186235" cy="4233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Laptop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A</a:t>
            </a:r>
            <a:r>
              <a:rPr lang="en-US" sz="1600" dirty="0"/>
              <a:t>= new </a:t>
            </a:r>
            <a:r>
              <a:rPr lang="en-US" sz="1600" dirty="0">
                <a:solidFill>
                  <a:srgbClr val="C00000"/>
                </a:solidFill>
              </a:rPr>
              <a:t>Laptop</a:t>
            </a:r>
            <a:r>
              <a:rPr lang="en-US" sz="1600" dirty="0"/>
              <a:t>();</a:t>
            </a:r>
          </a:p>
          <a:p>
            <a:r>
              <a:rPr lang="en-US" sz="1600" dirty="0"/>
              <a:t>//Create laptop with Multiple constructor</a:t>
            </a:r>
          </a:p>
          <a:p>
            <a:r>
              <a:rPr lang="en-US" sz="1600" dirty="0"/>
              <a:t>(Or)</a:t>
            </a:r>
          </a:p>
          <a:p>
            <a:r>
              <a:rPr lang="en-US" sz="1600" dirty="0" err="1">
                <a:solidFill>
                  <a:srgbClr val="C00000"/>
                </a:solidFill>
              </a:rPr>
              <a:t>A</a:t>
            </a:r>
            <a:r>
              <a:rPr lang="en-US" sz="1600" dirty="0" err="1"/>
              <a:t>.setConfig</a:t>
            </a:r>
            <a:r>
              <a:rPr lang="en-US" sz="1600" dirty="0"/>
              <a:t>(Collection item)</a:t>
            </a:r>
          </a:p>
          <a:p>
            <a:r>
              <a:rPr lang="en-US" sz="1600" dirty="0"/>
              <a:t>(Or)</a:t>
            </a:r>
          </a:p>
          <a:p>
            <a:r>
              <a:rPr lang="en-US" sz="1600" dirty="0" err="1">
                <a:solidFill>
                  <a:srgbClr val="C00000"/>
                </a:solidFill>
              </a:rPr>
              <a:t>A</a:t>
            </a:r>
            <a:r>
              <a:rPr lang="en-US" sz="1600" dirty="0" err="1"/>
              <a:t>.SetProcessor</a:t>
            </a:r>
            <a:r>
              <a:rPr lang="en-US" sz="1600" dirty="0"/>
              <a:t>(p).</a:t>
            </a:r>
            <a:r>
              <a:rPr lang="en-US" sz="1600" dirty="0" err="1"/>
              <a:t>SetStorage</a:t>
            </a:r>
            <a:r>
              <a:rPr lang="en-US" sz="1600" dirty="0"/>
              <a:t>(s).</a:t>
            </a:r>
            <a:r>
              <a:rPr lang="en-US" sz="1600" dirty="0" err="1"/>
              <a:t>SetMemory</a:t>
            </a:r>
            <a:r>
              <a:rPr lang="en-US" sz="1600" dirty="0"/>
              <a:t>(m);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B050"/>
                </a:solidFill>
              </a:rPr>
              <a:t>- - - - - - - - - - - - - - - -</a:t>
            </a:r>
          </a:p>
          <a:p>
            <a:endParaRPr lang="en-US" sz="1600" dirty="0">
              <a:solidFill>
                <a:srgbClr val="002060"/>
              </a:solidFill>
            </a:endParaRPr>
          </a:p>
          <a:p>
            <a:r>
              <a:rPr lang="en-US" sz="1600" dirty="0">
                <a:solidFill>
                  <a:srgbClr val="002060"/>
                </a:solidFill>
              </a:rPr>
              <a:t>Desktop B</a:t>
            </a:r>
            <a:r>
              <a:rPr lang="en-US" sz="1600" dirty="0"/>
              <a:t>= new </a:t>
            </a:r>
            <a:r>
              <a:rPr lang="en-US" sz="1600" dirty="0">
                <a:solidFill>
                  <a:srgbClr val="002060"/>
                </a:solidFill>
              </a:rPr>
              <a:t>Desktop</a:t>
            </a:r>
            <a:r>
              <a:rPr lang="en-US" sz="1600" dirty="0"/>
              <a:t>();</a:t>
            </a:r>
          </a:p>
          <a:p>
            <a:r>
              <a:rPr lang="en-US" sz="1600" dirty="0"/>
              <a:t>//Create Desktop with Multiple constructor</a:t>
            </a:r>
          </a:p>
          <a:p>
            <a:r>
              <a:rPr lang="en-US" sz="1600" dirty="0"/>
              <a:t>(Or)</a:t>
            </a:r>
          </a:p>
          <a:p>
            <a:r>
              <a:rPr lang="en-US" sz="1600" dirty="0" err="1">
                <a:solidFill>
                  <a:srgbClr val="002060"/>
                </a:solidFill>
              </a:rPr>
              <a:t>B</a:t>
            </a:r>
            <a:r>
              <a:rPr lang="en-US" sz="1600" dirty="0" err="1"/>
              <a:t>.setConfig</a:t>
            </a:r>
            <a:r>
              <a:rPr lang="en-US" sz="1600" dirty="0"/>
              <a:t>(Collection item)</a:t>
            </a:r>
          </a:p>
          <a:p>
            <a:r>
              <a:rPr lang="en-US" sz="1600" dirty="0"/>
              <a:t>(Or)</a:t>
            </a:r>
          </a:p>
          <a:p>
            <a:r>
              <a:rPr lang="en-US" sz="1600" dirty="0" err="1">
                <a:solidFill>
                  <a:srgbClr val="002060"/>
                </a:solidFill>
              </a:rPr>
              <a:t>B</a:t>
            </a:r>
            <a:r>
              <a:rPr lang="en-US" sz="1600" dirty="0" err="1"/>
              <a:t>.SetProcessor</a:t>
            </a:r>
            <a:r>
              <a:rPr lang="en-US" sz="1600" dirty="0"/>
              <a:t>(p).</a:t>
            </a:r>
            <a:r>
              <a:rPr lang="en-US" sz="1600" dirty="0" err="1"/>
              <a:t>SetStorage</a:t>
            </a:r>
            <a:r>
              <a:rPr lang="en-US" sz="1600" dirty="0"/>
              <a:t>(s).</a:t>
            </a:r>
            <a:r>
              <a:rPr lang="en-US" sz="1600" dirty="0" err="1"/>
              <a:t>SetMemory</a:t>
            </a:r>
            <a:r>
              <a:rPr lang="en-US" sz="1600" dirty="0"/>
              <a:t>(m);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00CA2B53-DBDF-48AF-AD3E-833A1416775E}"/>
              </a:ext>
            </a:extLst>
          </p:cNvPr>
          <p:cNvSpPr/>
          <p:nvPr/>
        </p:nvSpPr>
        <p:spPr>
          <a:xfrm>
            <a:off x="8305750" y="1414508"/>
            <a:ext cx="2986135" cy="4028984"/>
          </a:xfrm>
          <a:prstGeom prst="clou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eCommerce Portal</a:t>
            </a:r>
          </a:p>
        </p:txBody>
      </p:sp>
    </p:spTree>
    <p:extLst>
      <p:ext uri="{BB962C8B-B14F-4D97-AF65-F5344CB8AC3E}">
        <p14:creationId xmlns:p14="http://schemas.microsoft.com/office/powerpoint/2010/main" val="3745509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4EDA59-3B4A-4AE3-B2C2-EB630BB48026}"/>
              </a:ext>
            </a:extLst>
          </p:cNvPr>
          <p:cNvSpPr/>
          <p:nvPr/>
        </p:nvSpPr>
        <p:spPr>
          <a:xfrm>
            <a:off x="2533650" y="981075"/>
            <a:ext cx="224795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Laptop 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SetProcessor</a:t>
            </a:r>
            <a:r>
              <a:rPr lang="en-US" sz="1400" dirty="0"/>
              <a:t>(string P)</a:t>
            </a:r>
          </a:p>
          <a:p>
            <a:r>
              <a:rPr lang="en-US" sz="1400" dirty="0"/>
              <a:t>    {    Processor=p;  }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SetMonitor</a:t>
            </a:r>
            <a:r>
              <a:rPr lang="en-US" sz="1400" dirty="0"/>
              <a:t>(string M)</a:t>
            </a:r>
          </a:p>
          <a:p>
            <a:r>
              <a:rPr lang="en-US" sz="1400" dirty="0"/>
              <a:t>    {    Monitor=M;  }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SetStorage</a:t>
            </a:r>
            <a:r>
              <a:rPr lang="en-US" sz="1400" dirty="0"/>
              <a:t>(string S)</a:t>
            </a:r>
          </a:p>
          <a:p>
            <a:r>
              <a:rPr lang="en-US" sz="1400" dirty="0"/>
              <a:t>    {    Storage=S;  }      </a:t>
            </a:r>
          </a:p>
          <a:p>
            <a:r>
              <a:rPr lang="en-US" sz="1400" dirty="0"/>
              <a:t> </a:t>
            </a:r>
            <a:r>
              <a:rPr lang="en-US" sz="1400" dirty="0" err="1"/>
              <a:t>SetAdditional</a:t>
            </a:r>
            <a:r>
              <a:rPr lang="en-US" sz="1400" dirty="0"/>
              <a:t>(string M)</a:t>
            </a:r>
          </a:p>
          <a:p>
            <a:r>
              <a:rPr lang="en-US" sz="1400" dirty="0"/>
              <a:t>    {    Monitor=M;  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5E5384-96CD-419A-8AE1-2EB2EF1EC8D1}"/>
              </a:ext>
            </a:extLst>
          </p:cNvPr>
          <p:cNvSpPr/>
          <p:nvPr/>
        </p:nvSpPr>
        <p:spPr>
          <a:xfrm>
            <a:off x="5734050" y="1581150"/>
            <a:ext cx="2562225" cy="3952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Laptop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A</a:t>
            </a:r>
            <a:r>
              <a:rPr lang="en-US" sz="1600" dirty="0"/>
              <a:t>= new </a:t>
            </a:r>
            <a:r>
              <a:rPr lang="en-US" sz="1600" dirty="0">
                <a:solidFill>
                  <a:srgbClr val="C00000"/>
                </a:solidFill>
              </a:rPr>
              <a:t>Laptop</a:t>
            </a:r>
            <a:r>
              <a:rPr lang="en-US" sz="1600" dirty="0"/>
              <a:t>();</a:t>
            </a:r>
          </a:p>
          <a:p>
            <a:r>
              <a:rPr lang="en-US" sz="1600" dirty="0" err="1">
                <a:solidFill>
                  <a:srgbClr val="C00000"/>
                </a:solidFill>
              </a:rPr>
              <a:t>A</a:t>
            </a:r>
            <a:r>
              <a:rPr lang="en-US" sz="1600" dirty="0" err="1"/>
              <a:t>.SetProcessor</a:t>
            </a:r>
            <a:r>
              <a:rPr lang="en-US" sz="1600" dirty="0"/>
              <a:t>(p)</a:t>
            </a:r>
          </a:p>
          <a:p>
            <a:r>
              <a:rPr lang="en-US" sz="1600" dirty="0"/>
              <a:t>  .</a:t>
            </a:r>
            <a:r>
              <a:rPr lang="en-US" sz="1600" dirty="0" err="1"/>
              <a:t>SetMemory</a:t>
            </a:r>
            <a:r>
              <a:rPr lang="en-US" sz="1600" dirty="0"/>
              <a:t>(m)</a:t>
            </a:r>
          </a:p>
          <a:p>
            <a:r>
              <a:rPr lang="en-US" sz="1600" dirty="0"/>
              <a:t>  .</a:t>
            </a:r>
            <a:r>
              <a:rPr lang="en-US" sz="1600" dirty="0" err="1"/>
              <a:t>SetStorage</a:t>
            </a:r>
            <a:r>
              <a:rPr lang="en-US" sz="1600" dirty="0"/>
              <a:t>(s)</a:t>
            </a:r>
          </a:p>
          <a:p>
            <a:r>
              <a:rPr lang="en-US" sz="1600" dirty="0"/>
              <a:t>  .</a:t>
            </a:r>
            <a:r>
              <a:rPr lang="en-US" sz="1600" dirty="0" err="1"/>
              <a:t>SetAdditional</a:t>
            </a:r>
            <a:r>
              <a:rPr lang="en-US" sz="1600" dirty="0"/>
              <a:t>(m)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  </a:t>
            </a:r>
          </a:p>
          <a:p>
            <a:pPr algn="ctr"/>
            <a:r>
              <a:rPr lang="en-US" sz="1600" b="1" dirty="0">
                <a:solidFill>
                  <a:srgbClr val="00B050"/>
                </a:solidFill>
              </a:rPr>
              <a:t>- - - - - - - - - - - - - - -</a:t>
            </a:r>
          </a:p>
          <a:p>
            <a:pPr marL="285750" indent="-285750" algn="ctr">
              <a:buFontTx/>
              <a:buChar char="-"/>
            </a:pPr>
            <a:endParaRPr lang="en-US" sz="1600" b="1" dirty="0">
              <a:solidFill>
                <a:srgbClr val="00B050"/>
              </a:solidFill>
            </a:endParaRPr>
          </a:p>
          <a:p>
            <a:r>
              <a:rPr lang="en-US" sz="1600" dirty="0">
                <a:solidFill>
                  <a:srgbClr val="002060"/>
                </a:solidFill>
              </a:rPr>
              <a:t>Desktop B</a:t>
            </a:r>
            <a:r>
              <a:rPr lang="en-US" sz="1600" dirty="0"/>
              <a:t>= new </a:t>
            </a:r>
            <a:r>
              <a:rPr lang="en-US" sz="1600" dirty="0">
                <a:solidFill>
                  <a:srgbClr val="002060"/>
                </a:solidFill>
              </a:rPr>
              <a:t>Desktop</a:t>
            </a:r>
            <a:r>
              <a:rPr lang="en-US" sz="1600" dirty="0"/>
              <a:t>();</a:t>
            </a:r>
          </a:p>
          <a:p>
            <a:r>
              <a:rPr lang="en-US" sz="1600" dirty="0" err="1">
                <a:solidFill>
                  <a:srgbClr val="002060"/>
                </a:solidFill>
              </a:rPr>
              <a:t>B</a:t>
            </a:r>
            <a:r>
              <a:rPr lang="en-US" sz="1600" dirty="0" err="1"/>
              <a:t>.SetProcessor</a:t>
            </a:r>
            <a:r>
              <a:rPr lang="en-US" sz="1600" dirty="0"/>
              <a:t>(p)</a:t>
            </a:r>
          </a:p>
          <a:p>
            <a:r>
              <a:rPr lang="en-US" sz="1600" dirty="0"/>
              <a:t>  .</a:t>
            </a:r>
            <a:r>
              <a:rPr lang="en-US" sz="1600" dirty="0" err="1"/>
              <a:t>SetMemory</a:t>
            </a:r>
            <a:r>
              <a:rPr lang="en-US" sz="1600" dirty="0"/>
              <a:t>(m)</a:t>
            </a:r>
          </a:p>
          <a:p>
            <a:r>
              <a:rPr lang="en-US" sz="1600" dirty="0"/>
              <a:t>  .</a:t>
            </a:r>
            <a:r>
              <a:rPr lang="en-US" sz="1600" dirty="0" err="1"/>
              <a:t>SetStorage</a:t>
            </a:r>
            <a:r>
              <a:rPr lang="en-US" sz="1600" dirty="0"/>
              <a:t>(s)</a:t>
            </a:r>
          </a:p>
          <a:p>
            <a:r>
              <a:rPr lang="en-US" sz="1600" dirty="0"/>
              <a:t>  . </a:t>
            </a:r>
            <a:r>
              <a:rPr lang="en-US" sz="1600" dirty="0" err="1"/>
              <a:t>SetAdditional</a:t>
            </a:r>
            <a:r>
              <a:rPr lang="en-US" sz="1600" dirty="0"/>
              <a:t>(m)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00CA2B53-DBDF-48AF-AD3E-833A1416775E}"/>
              </a:ext>
            </a:extLst>
          </p:cNvPr>
          <p:cNvSpPr/>
          <p:nvPr/>
        </p:nvSpPr>
        <p:spPr>
          <a:xfrm>
            <a:off x="9001075" y="1414508"/>
            <a:ext cx="2986135" cy="4028984"/>
          </a:xfrm>
          <a:prstGeom prst="clou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eCommerce Portal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04AAD9-B75C-4E0C-A502-170F6E521D1D}"/>
              </a:ext>
            </a:extLst>
          </p:cNvPr>
          <p:cNvSpPr/>
          <p:nvPr/>
        </p:nvSpPr>
        <p:spPr>
          <a:xfrm>
            <a:off x="2533650" y="3990975"/>
            <a:ext cx="224795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Desktop 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SetProcessor</a:t>
            </a:r>
            <a:r>
              <a:rPr lang="en-US" sz="1400" dirty="0"/>
              <a:t>(string P)</a:t>
            </a:r>
          </a:p>
          <a:p>
            <a:r>
              <a:rPr lang="en-US" sz="1400" dirty="0"/>
              <a:t>    {    Processor=p;  }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SetMonitor</a:t>
            </a:r>
            <a:r>
              <a:rPr lang="en-US" sz="1400" dirty="0"/>
              <a:t>(string M)</a:t>
            </a:r>
          </a:p>
          <a:p>
            <a:r>
              <a:rPr lang="en-US" sz="1400" dirty="0"/>
              <a:t>    {    Monitor=M;  }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SetStorage</a:t>
            </a:r>
            <a:r>
              <a:rPr lang="en-US" sz="1400" dirty="0"/>
              <a:t>(string S)</a:t>
            </a:r>
          </a:p>
          <a:p>
            <a:r>
              <a:rPr lang="en-US" sz="1400" dirty="0"/>
              <a:t>    {    Storage=S;  }      </a:t>
            </a:r>
          </a:p>
          <a:p>
            <a:r>
              <a:rPr lang="en-US" sz="1400" dirty="0"/>
              <a:t> </a:t>
            </a:r>
            <a:r>
              <a:rPr lang="en-US" sz="1400" dirty="0" err="1"/>
              <a:t>SetAdditional</a:t>
            </a:r>
            <a:r>
              <a:rPr lang="en-US" sz="1400" dirty="0"/>
              <a:t>(string M)</a:t>
            </a:r>
          </a:p>
          <a:p>
            <a:r>
              <a:rPr lang="en-US" sz="1400" dirty="0"/>
              <a:t>    {    Monitor=M;  }</a:t>
            </a:r>
          </a:p>
          <a:p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82760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4EDA59-3B4A-4AE3-B2C2-EB630BB48026}"/>
              </a:ext>
            </a:extLst>
          </p:cNvPr>
          <p:cNvSpPr/>
          <p:nvPr/>
        </p:nvSpPr>
        <p:spPr>
          <a:xfrm>
            <a:off x="1864302" y="2627791"/>
            <a:ext cx="9428093" cy="178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Director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ObjectBuilder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Director();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IBuilder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LaptopBuilder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IProduct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Obj =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ObjectBuilder.CreateProduct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(builder,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"I7,32GB,1TB,Mouse &amp; Keyboard"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3790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4EDA59-3B4A-4AE3-B2C2-EB630BB48026}"/>
              </a:ext>
            </a:extLst>
          </p:cNvPr>
          <p:cNvSpPr/>
          <p:nvPr/>
        </p:nvSpPr>
        <p:spPr>
          <a:xfrm>
            <a:off x="1837673" y="1720043"/>
            <a:ext cx="10306981" cy="3437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Director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ObjectBuilder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Director();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IBuilder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LaptopBuilder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IProduct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Obj =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ObjectBuilder.CreateProduct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(builder,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"I7,32GB,1TB,Inbuild Mouse &amp; Keyboard"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Obj.ShowDetails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builder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DesktopBuilder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Obj =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ObjectBuilder.CreateProduct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(builder, 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"I5,64GB,2TB,Bluetooth Mouse &amp; Keyboard"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Obj.ShowDetails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144293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E162D3D-C2F4-47D9-8BB6-31F74FE1112F}"/>
              </a:ext>
            </a:extLst>
          </p:cNvPr>
          <p:cNvSpPr/>
          <p:nvPr/>
        </p:nvSpPr>
        <p:spPr>
          <a:xfrm>
            <a:off x="7603390" y="2358085"/>
            <a:ext cx="3005426" cy="2141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Director 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CreateProduct</a:t>
            </a:r>
            <a:r>
              <a:rPr lang="en-US" sz="1400" dirty="0"/>
              <a:t> (</a:t>
            </a:r>
            <a:r>
              <a:rPr lang="en-US" sz="1400" dirty="0" err="1"/>
              <a:t>IBuilder</a:t>
            </a:r>
            <a:r>
              <a:rPr lang="en-US" sz="1400" dirty="0"/>
              <a:t> B, string </a:t>
            </a:r>
            <a:r>
              <a:rPr lang="en-US" sz="1400" dirty="0" err="1"/>
              <a:t>Parm</a:t>
            </a:r>
            <a:r>
              <a:rPr lang="en-US" sz="1400" dirty="0"/>
              <a:t>)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  	</a:t>
            </a:r>
            <a:r>
              <a:rPr lang="en-US" sz="1400" dirty="0" err="1"/>
              <a:t>B.CreateProduct</a:t>
            </a:r>
            <a:r>
              <a:rPr lang="en-US" sz="1400" dirty="0"/>
              <a:t>()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B.Initialize</a:t>
            </a:r>
            <a:r>
              <a:rPr lang="en-US" sz="1400" dirty="0"/>
              <a:t>();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B.ReturnProduct</a:t>
            </a:r>
            <a:r>
              <a:rPr lang="en-US" sz="1400" dirty="0"/>
              <a:t>();</a:t>
            </a:r>
          </a:p>
          <a:p>
            <a:r>
              <a:rPr lang="en-US" sz="1400" dirty="0"/>
              <a:t>     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A5DB8-0FF5-4669-97E8-FDC6DC51AEFE}"/>
              </a:ext>
            </a:extLst>
          </p:cNvPr>
          <p:cNvSpPr/>
          <p:nvPr/>
        </p:nvSpPr>
        <p:spPr>
          <a:xfrm>
            <a:off x="4420984" y="391240"/>
            <a:ext cx="1938291" cy="152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 err="1"/>
              <a:t>LaptopBuilder</a:t>
            </a:r>
            <a:r>
              <a:rPr lang="en-US" sz="1400" dirty="0"/>
              <a:t> : </a:t>
            </a:r>
            <a:r>
              <a:rPr lang="en-US" sz="1400" dirty="0" err="1"/>
              <a:t>IBuilder</a:t>
            </a:r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//</a:t>
            </a:r>
            <a:r>
              <a:rPr lang="en-US" sz="1200" dirty="0"/>
              <a:t>Create Laptop  Object</a:t>
            </a:r>
          </a:p>
          <a:p>
            <a:r>
              <a:rPr lang="en-US" sz="1200" dirty="0"/>
              <a:t>  // Build laptop Object</a:t>
            </a:r>
          </a:p>
          <a:p>
            <a:r>
              <a:rPr lang="en-US" sz="1200" dirty="0"/>
              <a:t>  // Return Laptop Object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5B9744-B241-41A9-B09F-EF0413445FDD}"/>
              </a:ext>
            </a:extLst>
          </p:cNvPr>
          <p:cNvSpPr/>
          <p:nvPr/>
        </p:nvSpPr>
        <p:spPr>
          <a:xfrm>
            <a:off x="4420984" y="5052899"/>
            <a:ext cx="1938291" cy="152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 err="1"/>
              <a:t>DesktopBuilder</a:t>
            </a:r>
            <a:r>
              <a:rPr lang="en-US" sz="1400" dirty="0"/>
              <a:t> : </a:t>
            </a:r>
            <a:r>
              <a:rPr lang="en-US" sz="1400" dirty="0" err="1"/>
              <a:t>IBuilder</a:t>
            </a:r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200" dirty="0"/>
              <a:t>   //Create Laptop  Object</a:t>
            </a:r>
          </a:p>
          <a:p>
            <a:r>
              <a:rPr lang="en-US" sz="1200" dirty="0"/>
              <a:t>  // Build laptop Object</a:t>
            </a:r>
          </a:p>
          <a:p>
            <a:r>
              <a:rPr lang="en-US" sz="1200" dirty="0"/>
              <a:t>  // Return Laptop Object</a:t>
            </a:r>
          </a:p>
          <a:p>
            <a:r>
              <a:rPr lang="en-US" sz="1200" dirty="0"/>
              <a:t>}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E79B0B6-E2A5-417A-9ED7-3F57AA6911A9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753026" y="1155876"/>
            <a:ext cx="1667958" cy="1639204"/>
          </a:xfrm>
          <a:prstGeom prst="bentConnector3">
            <a:avLst>
              <a:gd name="adj1" fmla="val -564"/>
            </a:avLst>
          </a:prstGeom>
          <a:ln w="349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FE89B5B-702B-4BA2-9D9E-32692F193501}"/>
              </a:ext>
            </a:extLst>
          </p:cNvPr>
          <p:cNvSpPr/>
          <p:nvPr/>
        </p:nvSpPr>
        <p:spPr>
          <a:xfrm>
            <a:off x="2125669" y="2795079"/>
            <a:ext cx="1254714" cy="1267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err="1"/>
              <a:t>IBuilder</a:t>
            </a:r>
            <a:endParaRPr lang="en-US" sz="1400" dirty="0"/>
          </a:p>
          <a:p>
            <a:pPr algn="ctr"/>
            <a:endParaRPr lang="en-US" sz="1400" dirty="0"/>
          </a:p>
          <a:p>
            <a:r>
              <a:rPr lang="en-US" sz="1200" dirty="0" err="1"/>
              <a:t>CreateProduct</a:t>
            </a:r>
            <a:r>
              <a:rPr lang="en-US" sz="1200" dirty="0"/>
              <a:t>()</a:t>
            </a:r>
          </a:p>
          <a:p>
            <a:r>
              <a:rPr lang="en-US" sz="1200" dirty="0"/>
              <a:t>Initialize();</a:t>
            </a:r>
          </a:p>
          <a:p>
            <a:r>
              <a:rPr lang="en-US" sz="1200" dirty="0" err="1"/>
              <a:t>ReturnProduct</a:t>
            </a:r>
            <a:r>
              <a:rPr lang="en-US" sz="1200" dirty="0"/>
              <a:t>();</a:t>
            </a:r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755042D-451E-4DE1-84E7-DEDAEF3186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32538" y="4168471"/>
            <a:ext cx="1889623" cy="1687274"/>
          </a:xfrm>
          <a:prstGeom prst="bentConnector3">
            <a:avLst>
              <a:gd name="adj1" fmla="val 99330"/>
            </a:avLst>
          </a:prstGeom>
          <a:ln w="349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1DF1507-8430-49BF-958D-EA28D043FD04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359274" y="1083817"/>
            <a:ext cx="2746829" cy="1274268"/>
          </a:xfrm>
          <a:prstGeom prst="bentConnector2">
            <a:avLst/>
          </a:prstGeom>
          <a:ln w="349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8D74ED0-812C-4962-AF41-622F5BC6E874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6359274" y="4499915"/>
            <a:ext cx="2746829" cy="1363514"/>
          </a:xfrm>
          <a:prstGeom prst="bentConnector2">
            <a:avLst/>
          </a:prstGeom>
          <a:ln w="349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0862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3D2B31-B539-4431-B3E0-99FDC7D81267}"/>
              </a:ext>
            </a:extLst>
          </p:cNvPr>
          <p:cNvSpPr/>
          <p:nvPr/>
        </p:nvSpPr>
        <p:spPr>
          <a:xfrm>
            <a:off x="1466826" y="2711018"/>
            <a:ext cx="1254714" cy="1435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err="1"/>
              <a:t>IProduct</a:t>
            </a:r>
            <a:endParaRPr lang="en-US" sz="1400" dirty="0"/>
          </a:p>
          <a:p>
            <a:pPr algn="ctr"/>
            <a:endParaRPr lang="en-US" sz="1200" dirty="0"/>
          </a:p>
          <a:p>
            <a:r>
              <a:rPr lang="en-US" sz="1400" dirty="0" err="1"/>
              <a:t>SetProcessor</a:t>
            </a:r>
            <a:endParaRPr lang="en-US" sz="1400" dirty="0"/>
          </a:p>
          <a:p>
            <a:r>
              <a:rPr lang="en-US" sz="1400" dirty="0" err="1"/>
              <a:t>SetMemory</a:t>
            </a:r>
            <a:endParaRPr lang="en-US" sz="1400" dirty="0"/>
          </a:p>
          <a:p>
            <a:r>
              <a:rPr lang="en-US" sz="1400" dirty="0" err="1"/>
              <a:t>SetStorage</a:t>
            </a:r>
            <a:endParaRPr lang="en-US" sz="1400" dirty="0"/>
          </a:p>
          <a:p>
            <a:r>
              <a:rPr lang="en-US" sz="1400" dirty="0" err="1"/>
              <a:t>SetMonitor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A88D63-A09A-4F2D-96D4-B6EB22A7A0D9}"/>
              </a:ext>
            </a:extLst>
          </p:cNvPr>
          <p:cNvSpPr/>
          <p:nvPr/>
        </p:nvSpPr>
        <p:spPr>
          <a:xfrm>
            <a:off x="2982989" y="303924"/>
            <a:ext cx="2247950" cy="1724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Laptop : </a:t>
            </a:r>
            <a:r>
              <a:rPr lang="en-US" sz="1400" dirty="0" err="1"/>
              <a:t>IProduct</a:t>
            </a:r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SetProcessor</a:t>
            </a:r>
            <a:r>
              <a:rPr lang="en-US" sz="1400" dirty="0"/>
              <a:t>(string P) { }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SetMemory</a:t>
            </a:r>
            <a:r>
              <a:rPr lang="en-US" sz="1400" dirty="0"/>
              <a:t>(string M) { }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SetStorage</a:t>
            </a:r>
            <a:r>
              <a:rPr lang="en-US" sz="1400" dirty="0"/>
              <a:t>(string S) { }      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ShowDetails</a:t>
            </a:r>
            <a:r>
              <a:rPr lang="en-US" sz="1400" dirty="0"/>
              <a:t>() { 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F0D63B-787A-4915-9313-95833A755305}"/>
              </a:ext>
            </a:extLst>
          </p:cNvPr>
          <p:cNvSpPr/>
          <p:nvPr/>
        </p:nvSpPr>
        <p:spPr>
          <a:xfrm>
            <a:off x="2982989" y="4829496"/>
            <a:ext cx="2247950" cy="1724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Desktop : </a:t>
            </a:r>
            <a:r>
              <a:rPr lang="en-US" sz="1400" dirty="0" err="1"/>
              <a:t>IProduct</a:t>
            </a:r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SetProcessor</a:t>
            </a:r>
            <a:r>
              <a:rPr lang="en-US" sz="1400" dirty="0"/>
              <a:t>(string P) { }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SetMemory</a:t>
            </a:r>
            <a:r>
              <a:rPr lang="en-US" sz="1400" dirty="0"/>
              <a:t>(string M) { }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SetStorage</a:t>
            </a:r>
            <a:r>
              <a:rPr lang="en-US" sz="1400" dirty="0"/>
              <a:t>(string S) { }      </a:t>
            </a:r>
          </a:p>
          <a:p>
            <a:r>
              <a:rPr lang="en-US" sz="1400" dirty="0"/>
              <a:t>   </a:t>
            </a:r>
            <a:r>
              <a:rPr lang="en-US" sz="1400" dirty="0" err="1"/>
              <a:t>ShowDetails</a:t>
            </a:r>
            <a:r>
              <a:rPr lang="en-US" sz="1400" dirty="0"/>
              <a:t>() { 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162D3D-C2F4-47D9-8BB6-31F74FE1112F}"/>
              </a:ext>
            </a:extLst>
          </p:cNvPr>
          <p:cNvSpPr/>
          <p:nvPr/>
        </p:nvSpPr>
        <p:spPr>
          <a:xfrm>
            <a:off x="8872897" y="2358083"/>
            <a:ext cx="3005426" cy="2141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Director 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CreateProduct</a:t>
            </a:r>
            <a:r>
              <a:rPr lang="en-US" sz="1400" dirty="0"/>
              <a:t> (</a:t>
            </a:r>
            <a:r>
              <a:rPr lang="en-US" sz="1400" dirty="0" err="1"/>
              <a:t>IBuilder</a:t>
            </a:r>
            <a:r>
              <a:rPr lang="en-US" sz="1400" dirty="0"/>
              <a:t> B, string </a:t>
            </a:r>
            <a:r>
              <a:rPr lang="en-US" sz="1400" dirty="0" err="1"/>
              <a:t>Parm</a:t>
            </a:r>
            <a:r>
              <a:rPr lang="en-US" sz="1400" dirty="0"/>
              <a:t>)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  	</a:t>
            </a:r>
            <a:r>
              <a:rPr lang="en-US" sz="1400" dirty="0" err="1"/>
              <a:t>B.CreateProduct</a:t>
            </a:r>
            <a:r>
              <a:rPr lang="en-US" sz="1400" dirty="0"/>
              <a:t>()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B.Initialize</a:t>
            </a:r>
            <a:r>
              <a:rPr lang="en-US" sz="1400" dirty="0"/>
              <a:t>();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B.ReturnProduct</a:t>
            </a:r>
            <a:r>
              <a:rPr lang="en-US" sz="1400" dirty="0"/>
              <a:t>();</a:t>
            </a:r>
          </a:p>
          <a:p>
            <a:r>
              <a:rPr lang="en-US" sz="1400" dirty="0"/>
              <a:t>     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A5DB8-0FF5-4669-97E8-FDC6DC51AEFE}"/>
              </a:ext>
            </a:extLst>
          </p:cNvPr>
          <p:cNvSpPr/>
          <p:nvPr/>
        </p:nvSpPr>
        <p:spPr>
          <a:xfrm>
            <a:off x="7270718" y="283672"/>
            <a:ext cx="1938291" cy="152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 err="1"/>
              <a:t>LaptopBuilder</a:t>
            </a:r>
            <a:r>
              <a:rPr lang="en-US" sz="1400" dirty="0"/>
              <a:t> : </a:t>
            </a:r>
            <a:r>
              <a:rPr lang="en-US" sz="1400" dirty="0" err="1"/>
              <a:t>IBuilder</a:t>
            </a:r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  </a:t>
            </a:r>
            <a:r>
              <a:rPr lang="en-US" sz="1400" dirty="0" err="1"/>
              <a:t>CreateProduct</a:t>
            </a:r>
            <a:r>
              <a:rPr lang="en-US" sz="1400" dirty="0"/>
              <a:t>() {}</a:t>
            </a:r>
          </a:p>
          <a:p>
            <a:r>
              <a:rPr lang="en-US" sz="1400" dirty="0"/>
              <a:t>     Initialize() {}</a:t>
            </a:r>
          </a:p>
          <a:p>
            <a:r>
              <a:rPr lang="en-US" sz="1400" dirty="0"/>
              <a:t>     </a:t>
            </a:r>
            <a:r>
              <a:rPr lang="en-US" sz="1400" dirty="0" err="1"/>
              <a:t>ReturnProduct</a:t>
            </a:r>
            <a:r>
              <a:rPr lang="en-US" sz="1400" dirty="0"/>
              <a:t>() {}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E89B5B-702B-4BA2-9D9E-32692F193501}"/>
              </a:ext>
            </a:extLst>
          </p:cNvPr>
          <p:cNvSpPr/>
          <p:nvPr/>
        </p:nvSpPr>
        <p:spPr>
          <a:xfrm>
            <a:off x="5658982" y="2795078"/>
            <a:ext cx="1254714" cy="1267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err="1"/>
              <a:t>IBuilder</a:t>
            </a:r>
            <a:endParaRPr lang="en-US" sz="1400" dirty="0"/>
          </a:p>
          <a:p>
            <a:pPr algn="ctr"/>
            <a:endParaRPr lang="en-US" sz="1400" dirty="0"/>
          </a:p>
          <a:p>
            <a:r>
              <a:rPr lang="en-US" sz="1200" dirty="0" err="1"/>
              <a:t>CreateProduct</a:t>
            </a:r>
            <a:r>
              <a:rPr lang="en-US" sz="1200" dirty="0"/>
              <a:t>()</a:t>
            </a:r>
          </a:p>
          <a:p>
            <a:r>
              <a:rPr lang="en-US" sz="1200" dirty="0"/>
              <a:t>Initialize();</a:t>
            </a:r>
          </a:p>
          <a:p>
            <a:r>
              <a:rPr lang="en-US" sz="1200" dirty="0" err="1"/>
              <a:t>ReturnProduct</a:t>
            </a:r>
            <a:r>
              <a:rPr lang="en-US" sz="1200" dirty="0"/>
              <a:t>();</a:t>
            </a:r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031C5CD2-0829-4743-BEEB-54DC09C3A59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93598" y="1502311"/>
            <a:ext cx="1525486" cy="853293"/>
          </a:xfrm>
          <a:prstGeom prst="bentConnector2">
            <a:avLst/>
          </a:prstGeom>
          <a:ln w="349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305698E-A6B8-4116-AC86-C01B59AC5C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50912" y="4525760"/>
            <a:ext cx="1610856" cy="853293"/>
          </a:xfrm>
          <a:prstGeom prst="bentConnector2">
            <a:avLst/>
          </a:prstGeom>
          <a:ln w="349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4A18A9-1098-4B8F-9FBF-7CD39FC64A8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5230939" y="1164322"/>
            <a:ext cx="2055720" cy="1892"/>
          </a:xfrm>
          <a:prstGeom prst="straightConnector1">
            <a:avLst/>
          </a:prstGeom>
          <a:ln w="349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5C11DC-D270-478A-9274-5861C99E8D93}"/>
              </a:ext>
            </a:extLst>
          </p:cNvPr>
          <p:cNvCxnSpPr>
            <a:cxnSpLocks/>
          </p:cNvCxnSpPr>
          <p:nvPr/>
        </p:nvCxnSpPr>
        <p:spPr>
          <a:xfrm>
            <a:off x="5230939" y="5624560"/>
            <a:ext cx="2046842" cy="0"/>
          </a:xfrm>
          <a:prstGeom prst="straightConnector1">
            <a:avLst/>
          </a:prstGeom>
          <a:ln w="349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214D976-7D86-4C7C-A14D-AD56B7334758}"/>
              </a:ext>
            </a:extLst>
          </p:cNvPr>
          <p:cNvCxnSpPr>
            <a:cxnSpLocks/>
            <a:endCxn id="7" idx="2"/>
          </p:cNvCxnSpPr>
          <p:nvPr/>
        </p:nvCxnSpPr>
        <p:spPr>
          <a:xfrm rot="5400000" flipH="1" flipV="1">
            <a:off x="6854199" y="1872440"/>
            <a:ext cx="1445162" cy="1326168"/>
          </a:xfrm>
          <a:prstGeom prst="bentConnector3">
            <a:avLst>
              <a:gd name="adj1" fmla="val 241"/>
            </a:avLst>
          </a:prstGeom>
          <a:ln w="349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F4E670B-5253-43FF-B67B-86F30231ED52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6913696" y="3628887"/>
            <a:ext cx="1326169" cy="1241807"/>
          </a:xfrm>
          <a:prstGeom prst="bentConnector2">
            <a:avLst/>
          </a:prstGeom>
          <a:ln w="349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55C37D8-9253-4CDB-808A-1B6D90E7966A}"/>
              </a:ext>
            </a:extLst>
          </p:cNvPr>
          <p:cNvCxnSpPr>
            <a:cxnSpLocks/>
            <a:endCxn id="12" idx="2"/>
          </p:cNvCxnSpPr>
          <p:nvPr/>
        </p:nvCxnSpPr>
        <p:spPr>
          <a:xfrm rot="5400000" flipH="1" flipV="1">
            <a:off x="9171125" y="4537798"/>
            <a:ext cx="1242369" cy="1166601"/>
          </a:xfrm>
          <a:prstGeom prst="bentConnector3">
            <a:avLst>
              <a:gd name="adj1" fmla="val 1409"/>
            </a:avLst>
          </a:prstGeom>
          <a:ln w="349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D5B9744-B241-41A9-B09F-EF0413445FDD}"/>
              </a:ext>
            </a:extLst>
          </p:cNvPr>
          <p:cNvSpPr/>
          <p:nvPr/>
        </p:nvSpPr>
        <p:spPr>
          <a:xfrm>
            <a:off x="7270719" y="4870694"/>
            <a:ext cx="1938291" cy="152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 err="1"/>
              <a:t>DesktopBuilder</a:t>
            </a:r>
            <a:r>
              <a:rPr lang="en-US" sz="1400" dirty="0"/>
              <a:t> : </a:t>
            </a:r>
            <a:r>
              <a:rPr lang="en-US" sz="1400" dirty="0" err="1"/>
              <a:t>IBuilder</a:t>
            </a:r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  </a:t>
            </a:r>
            <a:r>
              <a:rPr lang="en-US" sz="1400" dirty="0" err="1"/>
              <a:t>CreateProduct</a:t>
            </a:r>
            <a:r>
              <a:rPr lang="en-US" sz="1400" dirty="0"/>
              <a:t>() {}</a:t>
            </a:r>
          </a:p>
          <a:p>
            <a:r>
              <a:rPr lang="en-US" sz="1400" dirty="0"/>
              <a:t>     Initialize() {}</a:t>
            </a:r>
          </a:p>
          <a:p>
            <a:r>
              <a:rPr lang="en-US" sz="1400" dirty="0"/>
              <a:t>     </a:t>
            </a:r>
            <a:r>
              <a:rPr lang="en-US" sz="1400" dirty="0" err="1"/>
              <a:t>ReturnProduct</a:t>
            </a:r>
            <a:r>
              <a:rPr lang="en-US" sz="1400" dirty="0"/>
              <a:t>() {}</a:t>
            </a:r>
          </a:p>
          <a:p>
            <a:r>
              <a:rPr lang="en-US" sz="1400" dirty="0"/>
              <a:t>}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D4DE7B3-4072-41FC-934C-6DB0FEDCFD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59119" y="1071561"/>
            <a:ext cx="1375298" cy="1275519"/>
          </a:xfrm>
          <a:prstGeom prst="bentConnector3">
            <a:avLst>
              <a:gd name="adj1" fmla="val 296"/>
            </a:avLst>
          </a:prstGeom>
          <a:ln w="349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102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3D2B31-B539-4431-B3E0-99FDC7D81267}"/>
              </a:ext>
            </a:extLst>
          </p:cNvPr>
          <p:cNvSpPr/>
          <p:nvPr/>
        </p:nvSpPr>
        <p:spPr>
          <a:xfrm>
            <a:off x="1502337" y="2711016"/>
            <a:ext cx="1254714" cy="1435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err="1"/>
              <a:t>Iproduct</a:t>
            </a:r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Product</a:t>
            </a:r>
          </a:p>
          <a:p>
            <a:pPr algn="ctr"/>
            <a:endParaRPr lang="en-US" sz="12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A88D63-A09A-4F2D-96D4-B6EB22A7A0D9}"/>
              </a:ext>
            </a:extLst>
          </p:cNvPr>
          <p:cNvSpPr/>
          <p:nvPr/>
        </p:nvSpPr>
        <p:spPr>
          <a:xfrm>
            <a:off x="2982988" y="303924"/>
            <a:ext cx="1535745" cy="1724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Laptop : </a:t>
            </a:r>
            <a:r>
              <a:rPr lang="en-US" sz="1400" dirty="0" err="1"/>
              <a:t>Iproduct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Concreate Product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162D3D-C2F4-47D9-8BB6-31F74FE1112F}"/>
              </a:ext>
            </a:extLst>
          </p:cNvPr>
          <p:cNvSpPr/>
          <p:nvPr/>
        </p:nvSpPr>
        <p:spPr>
          <a:xfrm>
            <a:off x="8893610" y="2431003"/>
            <a:ext cx="3005426" cy="2141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Director 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Director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A5DB8-0FF5-4669-97E8-FDC6DC51AEFE}"/>
              </a:ext>
            </a:extLst>
          </p:cNvPr>
          <p:cNvSpPr/>
          <p:nvPr/>
        </p:nvSpPr>
        <p:spPr>
          <a:xfrm>
            <a:off x="7286659" y="399686"/>
            <a:ext cx="1938291" cy="152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 err="1"/>
              <a:t>LaptopBuilder</a:t>
            </a:r>
            <a:r>
              <a:rPr lang="en-US" sz="1400" dirty="0"/>
              <a:t> : </a:t>
            </a:r>
            <a:r>
              <a:rPr lang="en-US" sz="1400" dirty="0" err="1"/>
              <a:t>Ibuilder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Builder Concreate Product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E89B5B-702B-4BA2-9D9E-32692F193501}"/>
              </a:ext>
            </a:extLst>
          </p:cNvPr>
          <p:cNvSpPr/>
          <p:nvPr/>
        </p:nvSpPr>
        <p:spPr>
          <a:xfrm>
            <a:off x="5658982" y="2795078"/>
            <a:ext cx="1443154" cy="1267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err="1"/>
              <a:t>IBuilder</a:t>
            </a:r>
            <a:endParaRPr lang="en-US" sz="1400" dirty="0"/>
          </a:p>
          <a:p>
            <a:pPr algn="ctr"/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Builder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400" b="1" dirty="0">
                <a:solidFill>
                  <a:srgbClr val="FF0000"/>
                </a:solidFill>
              </a:rPr>
              <a:t>Product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5B9744-B241-41A9-B09F-EF0413445FDD}"/>
              </a:ext>
            </a:extLst>
          </p:cNvPr>
          <p:cNvSpPr/>
          <p:nvPr/>
        </p:nvSpPr>
        <p:spPr>
          <a:xfrm>
            <a:off x="7270719" y="5074880"/>
            <a:ext cx="1938291" cy="1529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 err="1"/>
              <a:t>DesktopBuilder</a:t>
            </a:r>
            <a:r>
              <a:rPr lang="en-US" sz="1400" dirty="0"/>
              <a:t> : </a:t>
            </a:r>
            <a:r>
              <a:rPr lang="en-US" sz="1400" dirty="0" err="1"/>
              <a:t>Ibuilder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Builder Concreate Product</a:t>
            </a:r>
          </a:p>
          <a:p>
            <a:endParaRPr lang="en-US" sz="1400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3E3AFD7-C8E9-4E32-AB4D-2202D1C746EE}"/>
              </a:ext>
            </a:extLst>
          </p:cNvPr>
          <p:cNvCxnSpPr>
            <a:cxnSpLocks/>
            <a:endCxn id="9" idx="1"/>
          </p:cNvCxnSpPr>
          <p:nvPr/>
        </p:nvCxnSpPr>
        <p:spPr>
          <a:xfrm rot="5400000" flipH="1" flipV="1">
            <a:off x="1793598" y="1502311"/>
            <a:ext cx="1525486" cy="853293"/>
          </a:xfrm>
          <a:prstGeom prst="bentConnector2">
            <a:avLst/>
          </a:prstGeom>
          <a:ln w="349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B418DBE-71C3-4042-A45E-89C414058A3F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1750912" y="4525760"/>
            <a:ext cx="1610856" cy="853293"/>
          </a:xfrm>
          <a:prstGeom prst="bentConnector2">
            <a:avLst/>
          </a:prstGeom>
          <a:ln w="349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D4519B-CC5A-453A-AA03-B7F7B35D89D0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 flipV="1">
            <a:off x="4518733" y="1164322"/>
            <a:ext cx="2767926" cy="1892"/>
          </a:xfrm>
          <a:prstGeom prst="straightConnector1">
            <a:avLst/>
          </a:prstGeom>
          <a:ln w="349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F48E9C-13A0-44F6-972F-0C320CAA06FB}"/>
              </a:ext>
            </a:extLst>
          </p:cNvPr>
          <p:cNvCxnSpPr>
            <a:cxnSpLocks/>
          </p:cNvCxnSpPr>
          <p:nvPr/>
        </p:nvCxnSpPr>
        <p:spPr>
          <a:xfrm flipV="1">
            <a:off x="4509855" y="5890891"/>
            <a:ext cx="2767926" cy="1892"/>
          </a:xfrm>
          <a:prstGeom prst="straightConnector1">
            <a:avLst/>
          </a:prstGeom>
          <a:ln w="349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E4E6FC2-4A68-4087-8363-856B2B9DF6C4}"/>
              </a:ext>
            </a:extLst>
          </p:cNvPr>
          <p:cNvCxnSpPr>
            <a:cxnSpLocks/>
            <a:stCxn id="13" idx="3"/>
            <a:endCxn id="7" idx="2"/>
          </p:cNvCxnSpPr>
          <p:nvPr/>
        </p:nvCxnSpPr>
        <p:spPr>
          <a:xfrm flipV="1">
            <a:off x="7102136" y="1928957"/>
            <a:ext cx="1153669" cy="1500042"/>
          </a:xfrm>
          <a:prstGeom prst="bentConnector2">
            <a:avLst/>
          </a:prstGeom>
          <a:ln w="349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82A3BEF-AD50-430D-8B97-E7FC11A647DC}"/>
              </a:ext>
            </a:extLst>
          </p:cNvPr>
          <p:cNvCxnSpPr>
            <a:cxnSpLocks/>
            <a:endCxn id="14" idx="0"/>
          </p:cNvCxnSpPr>
          <p:nvPr/>
        </p:nvCxnSpPr>
        <p:spPr>
          <a:xfrm rot="16200000" flipH="1">
            <a:off x="6951597" y="3786612"/>
            <a:ext cx="1446776" cy="1129759"/>
          </a:xfrm>
          <a:prstGeom prst="bentConnector3">
            <a:avLst>
              <a:gd name="adj1" fmla="val -317"/>
            </a:avLst>
          </a:prstGeom>
          <a:ln w="349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3E2E1B0-3F26-4552-8B8F-2CFBDC2D76FF}"/>
              </a:ext>
            </a:extLst>
          </p:cNvPr>
          <p:cNvSpPr/>
          <p:nvPr/>
        </p:nvSpPr>
        <p:spPr>
          <a:xfrm>
            <a:off x="2982987" y="4911519"/>
            <a:ext cx="1535745" cy="169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Desktop : </a:t>
            </a:r>
            <a:r>
              <a:rPr lang="en-US" sz="1400" dirty="0" err="1"/>
              <a:t>Iproduct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Concreate Product</a:t>
            </a:r>
          </a:p>
        </p:txBody>
      </p:sp>
    </p:spTree>
    <p:extLst>
      <p:ext uri="{BB962C8B-B14F-4D97-AF65-F5344CB8AC3E}">
        <p14:creationId xmlns:p14="http://schemas.microsoft.com/office/powerpoint/2010/main" val="10117547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817D-0618-4EF3-91B3-7B4E21537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6199" y="2894118"/>
            <a:ext cx="1892770" cy="763479"/>
          </a:xfrm>
        </p:spPr>
        <p:txBody>
          <a:bodyPr>
            <a:normAutofit/>
          </a:bodyPr>
          <a:lstStyle/>
          <a:p>
            <a:r>
              <a:rPr lang="en-US" sz="4000" dirty="0"/>
              <a:t>DEMO</a:t>
            </a:r>
            <a:endParaRPr lang="en-US" sz="4000" b="1" u="sng" dirty="0"/>
          </a:p>
        </p:txBody>
      </p:sp>
    </p:spTree>
    <p:extLst>
      <p:ext uri="{BB962C8B-B14F-4D97-AF65-F5344CB8AC3E}">
        <p14:creationId xmlns:p14="http://schemas.microsoft.com/office/powerpoint/2010/main" val="34865173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19657</TotalTime>
  <Words>2352</Words>
  <Application>Microsoft Office PowerPoint</Application>
  <PresentationFormat>Widescreen</PresentationFormat>
  <Paragraphs>573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-apple-system</vt:lpstr>
      <vt:lpstr>Arial</vt:lpstr>
      <vt:lpstr>Cascadia Mono</vt:lpstr>
      <vt:lpstr>Consolas</vt:lpstr>
      <vt:lpstr>Tw Cen MT</vt:lpstr>
      <vt:lpstr>Wingdings</vt:lpstr>
      <vt:lpstr>Circuit</vt:lpstr>
      <vt:lpstr>Design Patterns</vt:lpstr>
      <vt:lpstr>PowerPoint Presentation</vt:lpstr>
      <vt:lpstr>PowerPoint Presentation</vt:lpstr>
      <vt:lpstr>   Types of design pattern    Creational  Creational Patterns are used to resolve Object Creation Requirement  Structural  These patterns are used to define a class's structure. The aim of these patterns is to increase/modify the class functionality, without changing more code.  Behavioral  Behavioral patterns are used to achieve runtime requirement (like define how one class communicates with others) </vt:lpstr>
      <vt:lpstr>   Types of design pattern    Creational  Creational Patterns are used to resolve Object Creation Requirement  Structural  These patterns are used to define a class's structure. The aim of these patterns is to increase/modify the class functionality, without changing more code.  Behavioral  Behavioral patterns are used to achieve runtime requirement (like define how one class communicates with others)     MyClass obj = new MyClass();  obj.Method();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Requirement    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WebAPI</dc:title>
  <dc:creator>Prakash</dc:creator>
  <cp:lastModifiedBy>Prakash Rajasekar</cp:lastModifiedBy>
  <cp:revision>167</cp:revision>
  <dcterms:created xsi:type="dcterms:W3CDTF">2017-08-16T01:33:03Z</dcterms:created>
  <dcterms:modified xsi:type="dcterms:W3CDTF">2021-12-27T03:56:52Z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9a70571-31c6-4603-80c1-ef2fb871a62a_Enabled">
    <vt:lpwstr>True</vt:lpwstr>
  </property>
  <property fmtid="{D5CDD505-2E9C-101B-9397-08002B2CF9AE}" pid="3" name="MSIP_Label_b9a70571-31c6-4603-80c1-ef2fb871a62a_SiteId">
    <vt:lpwstr>258ac4e4-146a-411e-9dc8-79a9e12fd6da</vt:lpwstr>
  </property>
  <property fmtid="{D5CDD505-2E9C-101B-9397-08002B2CF9AE}" pid="4" name="MSIP_Label_b9a70571-31c6-4603-80c1-ef2fb871a62a_Ref">
    <vt:lpwstr>https://api.informationprotection.azure.com/api/258ac4e4-146a-411e-9dc8-79a9e12fd6da</vt:lpwstr>
  </property>
  <property fmtid="{D5CDD505-2E9C-101B-9397-08002B2CF9AE}" pid="5" name="MSIP_Label_b9a70571-31c6-4603-80c1-ef2fb871a62a_Owner">
    <vt:lpwstr>PR390951@wipro.com</vt:lpwstr>
  </property>
  <property fmtid="{D5CDD505-2E9C-101B-9397-08002B2CF9AE}" pid="6" name="MSIP_Label_b9a70571-31c6-4603-80c1-ef2fb871a62a_SetDate">
    <vt:lpwstr>2019-08-19T09:01:40.4333863-05:00</vt:lpwstr>
  </property>
  <property fmtid="{D5CDD505-2E9C-101B-9397-08002B2CF9AE}" pid="7" name="MSIP_Label_b9a70571-31c6-4603-80c1-ef2fb871a62a_Name">
    <vt:lpwstr>Internal and Restricted</vt:lpwstr>
  </property>
  <property fmtid="{D5CDD505-2E9C-101B-9397-08002B2CF9AE}" pid="8" name="MSIP_Label_b9a70571-31c6-4603-80c1-ef2fb871a62a_Application">
    <vt:lpwstr>Microsoft Azure Information Protection</vt:lpwstr>
  </property>
  <property fmtid="{D5CDD505-2E9C-101B-9397-08002B2CF9AE}" pid="9" name="MSIP_Label_b9a70571-31c6-4603-80c1-ef2fb871a62a_Extended_MSFT_Method">
    <vt:lpwstr>Automatic</vt:lpwstr>
  </property>
  <property fmtid="{D5CDD505-2E9C-101B-9397-08002B2CF9AE}" pid="10" name="Sensitivity">
    <vt:lpwstr>Internal and Restricted</vt:lpwstr>
  </property>
</Properties>
</file>